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9525" cap="flat">
              <a:solidFill>
                <a:srgbClr val="4A7EBB"/>
              </a:solidFill>
              <a:prstDash val="solid"/>
              <a:round/>
            </a:ln>
          </a:left>
          <a:right>
            <a:ln w="9525" cap="flat">
              <a:solidFill>
                <a:srgbClr val="4A7EBB"/>
              </a:solidFill>
              <a:prstDash val="solid"/>
              <a:round/>
            </a:ln>
          </a:right>
          <a:top>
            <a:ln w="9525" cap="flat">
              <a:solidFill>
                <a:srgbClr val="4A7EBB"/>
              </a:solidFill>
              <a:prstDash val="solid"/>
              <a:round/>
            </a:ln>
          </a:top>
          <a:bottom>
            <a:ln w="9525" cap="flat">
              <a:solidFill>
                <a:srgbClr val="4A7EBB"/>
              </a:solidFill>
              <a:prstDash val="solid"/>
              <a:round/>
            </a:ln>
          </a:bottom>
          <a:insideH>
            <a:ln w="9525" cap="flat">
              <a:solidFill>
                <a:srgbClr val="4A7EBB"/>
              </a:solidFill>
              <a:prstDash val="solid"/>
              <a:round/>
            </a:ln>
          </a:insideH>
          <a:insideV>
            <a:ln w="9525" cap="flat">
              <a:solidFill>
                <a:srgbClr val="4A7EBB"/>
              </a:solidFill>
              <a:prstDash val="solid"/>
              <a:round/>
            </a:ln>
          </a:insideV>
        </a:tcBdr>
        <a:fill>
          <a:solidFill>
            <a:schemeClr val="accent1">
              <a:alpha val="40000"/>
            </a:scheme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9525" cap="flat">
              <a:solidFill>
                <a:srgbClr val="4A7EBB"/>
              </a:solidFill>
              <a:prstDash val="solid"/>
              <a:round/>
            </a:ln>
          </a:left>
          <a:right>
            <a:ln w="25400" cap="flat">
              <a:solidFill>
                <a:schemeClr val="accent1"/>
              </a:solidFill>
              <a:prstDash val="solid"/>
              <a:round/>
            </a:ln>
          </a:right>
          <a:top>
            <a:ln w="9525" cap="flat">
              <a:solidFill>
                <a:srgbClr val="4A7EBB"/>
              </a:solidFill>
              <a:prstDash val="solid"/>
              <a:round/>
            </a:ln>
          </a:top>
          <a:bottom>
            <a:ln w="9525" cap="flat">
              <a:solidFill>
                <a:srgbClr val="4A7EBB"/>
              </a:solidFill>
              <a:prstDash val="solid"/>
              <a:round/>
            </a:ln>
          </a:bottom>
          <a:insideH>
            <a:ln w="9525" cap="flat">
              <a:solidFill>
                <a:srgbClr val="4A7EBB"/>
              </a:solidFill>
              <a:prstDash val="solid"/>
              <a:round/>
            </a:ln>
          </a:insideH>
          <a:insideV>
            <a:ln w="9525" cap="flat">
              <a:solidFill>
                <a:srgbClr val="4A7EBB"/>
              </a:solidFill>
              <a:prstDash val="solid"/>
              <a:round/>
            </a:ln>
          </a:insideV>
        </a:tcBdr>
        <a:fill>
          <a:solidFill>
            <a:schemeClr val="accent1">
              <a:alpha val="40000"/>
            </a:scheme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9525" cap="flat">
              <a:solidFill>
                <a:srgbClr val="4A7EBB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6"/>
          <p:cNvSpPr txBox="1"/>
          <p:nvPr/>
        </p:nvSpPr>
        <p:spPr>
          <a:xfrm>
            <a:off x="883919" y="325733"/>
            <a:ext cx="4735355" cy="3718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normAutofit fontScale="100000" lnSpcReduction="0"/>
          </a:bodyPr>
          <a:lstStyle/>
          <a:p>
            <a:pPr defTabSz="914400">
              <a:lnSpc>
                <a:spcPct val="90000"/>
              </a:lnSpc>
              <a:spcBef>
                <a:spcPts val="600"/>
              </a:spcBef>
              <a:defRPr b="1" sz="45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TwinLine</a:t>
            </a:r>
          </a:p>
          <a:p>
            <a:pPr defTabSz="914400">
              <a:lnSpc>
                <a:spcPct val="90000"/>
              </a:lnSpc>
              <a:spcBef>
                <a:spcPts val="600"/>
              </a:spcBef>
              <a:defRPr b="1" sz="4500">
                <a:solidFill>
                  <a:srgbClr val="FFFFFF"/>
                </a:solidFill>
              </a:defRPr>
            </a:pPr>
          </a:p>
          <a:p>
            <a:pPr defTabSz="914400">
              <a:lnSpc>
                <a:spcPct val="90000"/>
              </a:lnSpc>
              <a:spcBef>
                <a:spcPts val="600"/>
              </a:spcBef>
              <a:defRPr b="1" sz="45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Strategic Growth Proposal</a:t>
            </a:r>
          </a:p>
        </p:txBody>
      </p:sp>
      <p:sp>
        <p:nvSpPr>
          <p:cNvPr id="95" name="TextBox 18"/>
          <p:cNvSpPr txBox="1"/>
          <p:nvPr/>
        </p:nvSpPr>
        <p:spPr>
          <a:xfrm>
            <a:off x="880744" y="4414180"/>
            <a:ext cx="4738843" cy="15945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914400">
              <a:lnSpc>
                <a:spcPct val="90000"/>
              </a:lnSpc>
              <a:spcBef>
                <a:spcPts val="1000"/>
              </a:spcBef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Accelerating Operational Excellence</a:t>
            </a:r>
          </a:p>
        </p:txBody>
      </p:sp>
      <p:sp>
        <p:nvSpPr>
          <p:cNvPr id="96" name="TextBox 20"/>
          <p:cNvSpPr txBox="1"/>
          <p:nvPr/>
        </p:nvSpPr>
        <p:spPr>
          <a:xfrm>
            <a:off x="8266740" y="6285222"/>
            <a:ext cx="3510618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600"/>
              </a:spcBef>
              <a:defRPr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Team InnovAstra</a:t>
            </a:r>
          </a:p>
        </p:txBody>
      </p:sp>
      <p:pic>
        <p:nvPicPr>
          <p:cNvPr id="97" name="Picture 22" descr="Picture 2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16802" y="660448"/>
            <a:ext cx="4940530" cy="40500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Rectangle 1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Rectangle 13"/>
          <p:cNvSpPr/>
          <p:nvPr/>
        </p:nvSpPr>
        <p:spPr>
          <a:xfrm flipH="1" rot="5400000">
            <a:off x="-1410084" y="1410081"/>
            <a:ext cx="6858001" cy="4037838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rgbClr val="376092"/>
              </a:gs>
            </a:gsLst>
            <a:lin ang="30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" name="Rectangle 15"/>
          <p:cNvSpPr/>
          <p:nvPr/>
        </p:nvSpPr>
        <p:spPr>
          <a:xfrm flipH="1" rot="5400000">
            <a:off x="-1410085" y="1420219"/>
            <a:ext cx="6858000" cy="403784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Rectangle 17"/>
          <p:cNvSpPr/>
          <p:nvPr/>
        </p:nvSpPr>
        <p:spPr>
          <a:xfrm flipH="1" rot="5400000">
            <a:off x="767923" y="3588084"/>
            <a:ext cx="2501980" cy="4037842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799999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Freeform: Shape 19"/>
          <p:cNvSpPr/>
          <p:nvPr/>
        </p:nvSpPr>
        <p:spPr>
          <a:xfrm rot="20635413">
            <a:off x="-501737" y="969717"/>
            <a:ext cx="3900357" cy="41789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470" y="486"/>
                </a:moveTo>
                <a:cubicBezTo>
                  <a:pt x="18180" y="1853"/>
                  <a:pt x="21600" y="5954"/>
                  <a:pt x="21600" y="10800"/>
                </a:cubicBezTo>
                <a:cubicBezTo>
                  <a:pt x="21600" y="16765"/>
                  <a:pt x="16419" y="21600"/>
                  <a:pt x="10029" y="21600"/>
                </a:cubicBezTo>
                <a:cubicBezTo>
                  <a:pt x="6034" y="21600"/>
                  <a:pt x="2513" y="19711"/>
                  <a:pt x="433" y="16838"/>
                </a:cubicBezTo>
                <a:lnTo>
                  <a:pt x="0" y="16173"/>
                </a:lnTo>
                <a:lnTo>
                  <a:pt x="4604" y="1263"/>
                </a:lnTo>
                <a:lnTo>
                  <a:pt x="5524" y="849"/>
                </a:lnTo>
                <a:cubicBezTo>
                  <a:pt x="6909" y="302"/>
                  <a:pt x="8431" y="0"/>
                  <a:pt x="10029" y="0"/>
                </a:cubicBezTo>
                <a:cubicBezTo>
                  <a:pt x="11227" y="0"/>
                  <a:pt x="12383" y="170"/>
                  <a:pt x="13470" y="486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Rectangle 21"/>
          <p:cNvSpPr/>
          <p:nvPr/>
        </p:nvSpPr>
        <p:spPr>
          <a:xfrm flipH="1" rot="5400000">
            <a:off x="-1410093" y="1399943"/>
            <a:ext cx="6858004" cy="403783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95B3D7">
                  <a:alpha val="11000"/>
                </a:srgbClr>
              </a:gs>
            </a:gsLst>
            <a:lin ang="7199999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TextBox 3"/>
          <p:cNvSpPr txBox="1"/>
          <p:nvPr/>
        </p:nvSpPr>
        <p:spPr>
          <a:xfrm>
            <a:off x="512441" y="586854"/>
            <a:ext cx="3109928" cy="3387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normAutofit fontScale="100000" lnSpcReduction="0"/>
          </a:bodyPr>
          <a:lstStyle>
            <a:lvl1pPr algn="r" defTabSz="914400">
              <a:lnSpc>
                <a:spcPct val="90000"/>
              </a:lnSpc>
              <a:spcBef>
                <a:spcPts val="600"/>
              </a:spcBef>
              <a:defRPr b="1" sz="4000">
                <a:solidFill>
                  <a:srgbClr val="FFFFFF"/>
                </a:solidFill>
              </a:defRPr>
            </a:lvl1pPr>
          </a:lstStyle>
          <a:p>
            <a:pPr/>
            <a:r>
              <a:t>Executive Summary</a:t>
            </a:r>
          </a:p>
        </p:txBody>
      </p:sp>
      <p:grpSp>
        <p:nvGrpSpPr>
          <p:cNvPr id="122" name="Diagram 5"/>
          <p:cNvGrpSpPr/>
          <p:nvPr/>
        </p:nvGrpSpPr>
        <p:grpSpPr>
          <a:xfrm>
            <a:off x="4750588" y="697004"/>
            <a:ext cx="6000079" cy="5714458"/>
            <a:chOff x="0" y="0"/>
            <a:chExt cx="6000078" cy="5714456"/>
          </a:xfrm>
        </p:grpSpPr>
        <p:grpSp>
          <p:nvGrpSpPr>
            <p:cNvPr id="109" name="Group"/>
            <p:cNvGrpSpPr/>
            <p:nvPr/>
          </p:nvGrpSpPr>
          <p:grpSpPr>
            <a:xfrm>
              <a:off x="0" y="0"/>
              <a:ext cx="2857181" cy="1714308"/>
              <a:chOff x="0" y="0"/>
              <a:chExt cx="2857180" cy="1714307"/>
            </a:xfrm>
          </p:grpSpPr>
          <p:sp>
            <p:nvSpPr>
              <p:cNvPr id="107" name="Rectangle"/>
              <p:cNvSpPr/>
              <p:nvPr/>
            </p:nvSpPr>
            <p:spPr>
              <a:xfrm>
                <a:off x="-1" y="0"/>
                <a:ext cx="2857182" cy="1714308"/>
              </a:xfrm>
              <a:prstGeom prst="rect">
                <a:avLst/>
              </a:prstGeom>
              <a:solidFill>
                <a:schemeClr val="accent2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711200">
                  <a:spcBef>
                    <a:spcPts val="700"/>
                  </a:spcBef>
                  <a:defRPr sz="16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</a:p>
            </p:txBody>
          </p:sp>
          <p:sp>
            <p:nvSpPr>
              <p:cNvPr id="108" name="Bridges the gap between siloed plant systems uniting into a single, real-time shared digital twin."/>
              <p:cNvSpPr txBox="1"/>
              <p:nvPr/>
            </p:nvSpPr>
            <p:spPr>
              <a:xfrm>
                <a:off x="0" y="313593"/>
                <a:ext cx="2857181" cy="108712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60960" tIns="60960" rIns="60960" bIns="60960" numCol="1" anchor="ctr">
                <a:spAutoFit/>
              </a:bodyPr>
              <a:lstStyle>
                <a:lvl1pPr defTabSz="711200">
                  <a:spcBef>
                    <a:spcPts val="600"/>
                  </a:spcBef>
                  <a:defRPr sz="16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lvl1pPr>
              </a:lstStyle>
              <a:p>
                <a:pPr/>
                <a:r>
                  <a:t>Bridges the gap between siloed plant systems uniting into a single, real-time shared digital twin. </a:t>
                </a:r>
              </a:p>
            </p:txBody>
          </p:sp>
        </p:grpSp>
        <p:grpSp>
          <p:nvGrpSpPr>
            <p:cNvPr id="112" name="Group"/>
            <p:cNvGrpSpPr/>
            <p:nvPr/>
          </p:nvGrpSpPr>
          <p:grpSpPr>
            <a:xfrm>
              <a:off x="3142898" y="0"/>
              <a:ext cx="2857181" cy="1714308"/>
              <a:chOff x="0" y="0"/>
              <a:chExt cx="2857180" cy="1714307"/>
            </a:xfrm>
          </p:grpSpPr>
          <p:sp>
            <p:nvSpPr>
              <p:cNvPr id="110" name="Rectangle"/>
              <p:cNvSpPr/>
              <p:nvPr/>
            </p:nvSpPr>
            <p:spPr>
              <a:xfrm>
                <a:off x="-1" y="0"/>
                <a:ext cx="2857182" cy="1714308"/>
              </a:xfrm>
              <a:prstGeom prst="rect">
                <a:avLst/>
              </a:prstGeom>
              <a:solidFill>
                <a:srgbClr val="BF775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666750"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11" name="Transitions manufacturing operations from reactive firefighting to proactive prevention"/>
              <p:cNvSpPr txBox="1"/>
              <p:nvPr/>
            </p:nvSpPr>
            <p:spPr>
              <a:xfrm>
                <a:off x="0" y="342803"/>
                <a:ext cx="2857181" cy="10287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7150" tIns="57150" rIns="57150" bIns="57150" numCol="1" anchor="ctr">
                <a:spAutoFit/>
              </a:bodyPr>
              <a:lstStyle>
                <a:lvl1pPr defTabSz="666750">
                  <a:spcBef>
                    <a:spcPts val="600"/>
                  </a:spcBef>
                  <a:defRPr sz="15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lvl1pPr>
              </a:lstStyle>
              <a:p>
                <a:pPr/>
                <a:r>
                  <a:t>Transitions manufacturing operations from reactive firefighting to proactive prevention </a:t>
                </a:r>
              </a:p>
            </p:txBody>
          </p:sp>
        </p:grpSp>
        <p:grpSp>
          <p:nvGrpSpPr>
            <p:cNvPr id="115" name="Group"/>
            <p:cNvGrpSpPr/>
            <p:nvPr/>
          </p:nvGrpSpPr>
          <p:grpSpPr>
            <a:xfrm>
              <a:off x="0" y="2000026"/>
              <a:ext cx="2857181" cy="1714308"/>
              <a:chOff x="0" y="0"/>
              <a:chExt cx="2857180" cy="1714307"/>
            </a:xfrm>
          </p:grpSpPr>
          <p:sp>
            <p:nvSpPr>
              <p:cNvPr id="113" name="Rectangle"/>
              <p:cNvSpPr/>
              <p:nvPr/>
            </p:nvSpPr>
            <p:spPr>
              <a:xfrm>
                <a:off x="-1" y="0"/>
                <a:ext cx="2857182" cy="1714308"/>
              </a:xfrm>
              <a:prstGeom prst="rect">
                <a:avLst/>
              </a:prstGeom>
              <a:solidFill>
                <a:srgbClr val="BD9B5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666750"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14" name="Eliminates late detection and manual investigations by predicting bottlenecks and WIP buildup"/>
              <p:cNvSpPr txBox="1"/>
              <p:nvPr/>
            </p:nvSpPr>
            <p:spPr>
              <a:xfrm>
                <a:off x="0" y="342803"/>
                <a:ext cx="2857181" cy="10287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7150" tIns="57150" rIns="57150" bIns="57150" numCol="1" anchor="ctr">
                <a:spAutoFit/>
              </a:bodyPr>
              <a:lstStyle>
                <a:lvl1pPr defTabSz="666750">
                  <a:spcBef>
                    <a:spcPts val="600"/>
                  </a:spcBef>
                  <a:defRPr sz="15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lvl1pPr>
              </a:lstStyle>
              <a:p>
                <a:pPr/>
                <a:r>
                  <a:t>Eliminates late detection and manual investigations by predicting bottlenecks and WIP buildup</a:t>
                </a:r>
              </a:p>
            </p:txBody>
          </p:sp>
        </p:grpSp>
        <p:grpSp>
          <p:nvGrpSpPr>
            <p:cNvPr id="118" name="Group"/>
            <p:cNvGrpSpPr/>
            <p:nvPr/>
          </p:nvGrpSpPr>
          <p:grpSpPr>
            <a:xfrm>
              <a:off x="3142898" y="2000026"/>
              <a:ext cx="2857181" cy="1714308"/>
              <a:chOff x="0" y="0"/>
              <a:chExt cx="2857180" cy="1714307"/>
            </a:xfrm>
          </p:grpSpPr>
          <p:sp>
            <p:nvSpPr>
              <p:cNvPr id="116" name="Rectangle"/>
              <p:cNvSpPr/>
              <p:nvPr/>
            </p:nvSpPr>
            <p:spPr>
              <a:xfrm>
                <a:off x="-1" y="0"/>
                <a:ext cx="2857182" cy="1714308"/>
              </a:xfrm>
              <a:prstGeom prst="rect">
                <a:avLst/>
              </a:prstGeom>
              <a:solidFill>
                <a:srgbClr val="BCBC5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66750"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17" name="Prevents quality escapes and costly line stoppages through early defect prediction"/>
              <p:cNvSpPr txBox="1"/>
              <p:nvPr/>
            </p:nvSpPr>
            <p:spPr>
              <a:xfrm>
                <a:off x="0" y="457103"/>
                <a:ext cx="2857181" cy="8001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7150" tIns="57150" rIns="57150" bIns="57150" numCol="1" anchor="ctr">
                <a:spAutoFit/>
              </a:bodyPr>
              <a:lstStyle>
                <a:lvl1pPr algn="ctr" defTabSz="666750">
                  <a:spcBef>
                    <a:spcPts val="600"/>
                  </a:spcBef>
                  <a:defRPr sz="15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lvl1pPr>
              </a:lstStyle>
              <a:p>
                <a:pPr/>
                <a:r>
                  <a:t>Prevents quality escapes and costly line stoppages through early defect prediction</a:t>
                </a:r>
              </a:p>
            </p:txBody>
          </p:sp>
        </p:grpSp>
        <p:grpSp>
          <p:nvGrpSpPr>
            <p:cNvPr id="121" name="Group"/>
            <p:cNvGrpSpPr/>
            <p:nvPr/>
          </p:nvGrpSpPr>
          <p:grpSpPr>
            <a:xfrm>
              <a:off x="1571449" y="3999956"/>
              <a:ext cx="2857181" cy="1714501"/>
              <a:chOff x="0" y="0"/>
              <a:chExt cx="2857180" cy="1714500"/>
            </a:xfrm>
          </p:grpSpPr>
          <p:sp>
            <p:nvSpPr>
              <p:cNvPr id="119" name="Rectangle"/>
              <p:cNvSpPr/>
              <p:nvPr/>
            </p:nvSpPr>
            <p:spPr>
              <a:xfrm>
                <a:off x="0" y="96"/>
                <a:ext cx="2857181" cy="1714309"/>
              </a:xfrm>
              <a:prstGeom prst="rect">
                <a:avLst/>
              </a:prstGeom>
              <a:solidFill>
                <a:schemeClr val="accent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66750"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20" name="Delivers proven economic impact, including a 5-12% increase in line availability, 15-25% lower unplanned downtime, and typical savings of ₹15–30 Crore/year with a 6–12 month payback"/>
              <p:cNvSpPr txBox="1"/>
              <p:nvPr/>
            </p:nvSpPr>
            <p:spPr>
              <a:xfrm>
                <a:off x="0" y="-1"/>
                <a:ext cx="2857181" cy="17145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7150" tIns="57150" rIns="57150" bIns="57150" numCol="1" anchor="ctr">
                <a:spAutoFit/>
              </a:bodyPr>
              <a:lstStyle>
                <a:lvl1pPr algn="ctr" defTabSz="666750">
                  <a:spcBef>
                    <a:spcPts val="600"/>
                  </a:spcBef>
                  <a:defRPr sz="15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lvl1pPr>
              </a:lstStyle>
              <a:p>
                <a:pPr/>
                <a:r>
                  <a:t>Delivers proven economic impact, including a 5-12% increase in line availability, 15-25% lower unplanned downtime, and typical savings of ₹15–30 Crore/year with a 6–12 month payback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Rectangle 67"/>
          <p:cNvSpPr/>
          <p:nvPr/>
        </p:nvSpPr>
        <p:spPr>
          <a:xfrm flipH="1">
            <a:off x="1" y="0"/>
            <a:ext cx="12191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rgbClr val="376092"/>
              </a:gs>
            </a:gsLst>
            <a:lin ang="19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Rectangle 68"/>
          <p:cNvSpPr/>
          <p:nvPr/>
        </p:nvSpPr>
        <p:spPr>
          <a:xfrm flipH="1">
            <a:off x="8082819" y="0"/>
            <a:ext cx="4097212" cy="2170661"/>
          </a:xfrm>
          <a:prstGeom prst="rect">
            <a:avLst/>
          </a:prstGeom>
          <a:gradFill>
            <a:gsLst>
              <a:gs pos="19000">
                <a:srgbClr val="254061">
                  <a:alpha val="68000"/>
                </a:srgbClr>
              </a:gs>
              <a:gs pos="100000">
                <a:schemeClr val="accent1">
                  <a:alpha val="48000"/>
                </a:schemeClr>
              </a:gs>
            </a:gsLst>
            <a:lin ang="19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Rectangle 69"/>
          <p:cNvSpPr/>
          <p:nvPr/>
        </p:nvSpPr>
        <p:spPr>
          <a:xfrm flipH="1" rot="16200000">
            <a:off x="5010646" y="-5010044"/>
            <a:ext cx="2170710" cy="12192001"/>
          </a:xfrm>
          <a:prstGeom prst="rect">
            <a:avLst/>
          </a:prstGeom>
          <a:gradFill>
            <a:gsLst>
              <a:gs pos="23000">
                <a:srgbClr val="376092">
                  <a:alpha val="16000"/>
                </a:srgbClr>
              </a:gs>
              <a:gs pos="99000">
                <a:srgbClr val="000000">
                  <a:alpha val="45000"/>
                </a:srgbClr>
              </a:gs>
            </a:gsLst>
            <a:lin ang="210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TextBox 10"/>
          <p:cNvSpPr txBox="1"/>
          <p:nvPr/>
        </p:nvSpPr>
        <p:spPr>
          <a:xfrm>
            <a:off x="1429284" y="348864"/>
            <a:ext cx="9626671" cy="1576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defTabSz="914400">
              <a:lnSpc>
                <a:spcPct val="90000"/>
              </a:lnSpc>
              <a:spcBef>
                <a:spcPts val="600"/>
              </a:spcBef>
              <a:defRPr sz="40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Core Strategic Pillars</a:t>
            </a:r>
          </a:p>
        </p:txBody>
      </p:sp>
      <p:grpSp>
        <p:nvGrpSpPr>
          <p:cNvPr id="159" name="Diagram 20"/>
          <p:cNvGrpSpPr/>
          <p:nvPr/>
        </p:nvGrpSpPr>
        <p:grpSpPr>
          <a:xfrm>
            <a:off x="649177" y="2849832"/>
            <a:ext cx="10917585" cy="3224016"/>
            <a:chOff x="0" y="0"/>
            <a:chExt cx="10917582" cy="3224015"/>
          </a:xfrm>
        </p:grpSpPr>
        <p:grpSp>
          <p:nvGrpSpPr>
            <p:cNvPr id="131" name="Group"/>
            <p:cNvGrpSpPr/>
            <p:nvPr/>
          </p:nvGrpSpPr>
          <p:grpSpPr>
            <a:xfrm>
              <a:off x="0" y="0"/>
              <a:ext cx="1963593" cy="650565"/>
              <a:chOff x="0" y="0"/>
              <a:chExt cx="1963592" cy="650564"/>
            </a:xfrm>
          </p:grpSpPr>
          <p:sp>
            <p:nvSpPr>
              <p:cNvPr id="129" name="Rectangle"/>
              <p:cNvSpPr/>
              <p:nvPr/>
            </p:nvSpPr>
            <p:spPr>
              <a:xfrm>
                <a:off x="0" y="0"/>
                <a:ext cx="1963593" cy="650565"/>
              </a:xfrm>
              <a:prstGeom prst="rect">
                <a:avLst/>
              </a:prstGeom>
              <a:solidFill>
                <a:schemeClr val="accent2"/>
              </a:solidFill>
              <a:ln w="25400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577850">
                  <a:lnSpc>
                    <a:spcPct val="90000"/>
                  </a:lnSpc>
                  <a:spcBef>
                    <a:spcPts val="700"/>
                  </a:spcBef>
                  <a:defRPr sz="13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30" name="Unified Real-Time Visibility"/>
              <p:cNvSpPr txBox="1"/>
              <p:nvPr/>
            </p:nvSpPr>
            <p:spPr>
              <a:xfrm>
                <a:off x="39624" y="95807"/>
                <a:ext cx="1884346" cy="45895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2831" tIns="52831" rIns="52831" bIns="52831" numCol="1" anchor="ctr">
                <a:spAutoFit/>
              </a:bodyPr>
              <a:lstStyle>
                <a:lvl1pPr algn="ctr" defTabSz="577850">
                  <a:lnSpc>
                    <a:spcPct val="90000"/>
                  </a:lnSpc>
                  <a:spcBef>
                    <a:spcPts val="500"/>
                  </a:spcBef>
                  <a:defRPr b="1" sz="13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Unified Real-Time Visibility</a:t>
                </a:r>
              </a:p>
            </p:txBody>
          </p:sp>
        </p:grpSp>
        <p:grpSp>
          <p:nvGrpSpPr>
            <p:cNvPr id="134" name="Group"/>
            <p:cNvGrpSpPr/>
            <p:nvPr/>
          </p:nvGrpSpPr>
          <p:grpSpPr>
            <a:xfrm>
              <a:off x="0" y="650565"/>
              <a:ext cx="1963593" cy="2571133"/>
              <a:chOff x="0" y="0"/>
              <a:chExt cx="1963592" cy="2571132"/>
            </a:xfrm>
          </p:grpSpPr>
          <p:sp>
            <p:nvSpPr>
              <p:cNvPr id="132" name="Rectangle"/>
              <p:cNvSpPr/>
              <p:nvPr/>
            </p:nvSpPr>
            <p:spPr>
              <a:xfrm>
                <a:off x="0" y="-1"/>
                <a:ext cx="1963593" cy="2571134"/>
              </a:xfrm>
              <a:prstGeom prst="rect">
                <a:avLst/>
              </a:prstGeom>
              <a:solidFill>
                <a:srgbClr val="E8CFCF">
                  <a:alpha val="90000"/>
                </a:srgbClr>
              </a:solidFill>
              <a:ln w="25400" cap="flat">
                <a:solidFill>
                  <a:srgbClr val="E8CFCF">
                    <a:alpha val="90000"/>
                  </a:srgbClr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577850">
                  <a:lnSpc>
                    <a:spcPct val="90000"/>
                  </a:lnSpc>
                  <a:spcBef>
                    <a:spcPts val="300"/>
                  </a:spcBef>
                  <a:defRPr sz="1300"/>
                </a:pPr>
              </a:p>
            </p:txBody>
          </p:sp>
          <p:sp>
            <p:nvSpPr>
              <p:cNvPr id="133" name="Breaks down historical data silos by integrating MES, SCADA, ERP, and QMS platforms into a single, cohesive digital twin.…"/>
              <p:cNvSpPr txBox="1"/>
              <p:nvPr/>
            </p:nvSpPr>
            <p:spPr>
              <a:xfrm>
                <a:off x="0" y="0"/>
                <a:ext cx="1940480" cy="22004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69342" tIns="69342" rIns="69342" bIns="69342" numCol="1" anchor="t">
                <a:spAutoFit/>
              </a:bodyPr>
              <a:lstStyle/>
              <a:p>
                <a:pPr lvl="1" marL="114300" indent="-114300" defTabSz="57785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300"/>
                </a:pPr>
                <a:r>
                  <a:t>Breaks down historical data silos by integrating MES, SCADA, ERP, and QMS platforms into a single, cohesive digital twin. </a:t>
                </a:r>
                <a:endParaRPr b="1"/>
              </a:p>
              <a:p>
                <a:pPr lvl="1" marL="114300" indent="-114300" defTabSz="57785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300"/>
                </a:pPr>
                <a:r>
                  <a:t>Continuously ingests live shopfloor signals via GCP Pub/Sub and Dataflow to maintain an up-to-date station topology model. </a:t>
                </a:r>
              </a:p>
            </p:txBody>
          </p:sp>
        </p:grpSp>
        <p:grpSp>
          <p:nvGrpSpPr>
            <p:cNvPr id="137" name="Group"/>
            <p:cNvGrpSpPr/>
            <p:nvPr/>
          </p:nvGrpSpPr>
          <p:grpSpPr>
            <a:xfrm>
              <a:off x="2238497" y="0"/>
              <a:ext cx="1963594" cy="650565"/>
              <a:chOff x="0" y="0"/>
              <a:chExt cx="1963592" cy="650564"/>
            </a:xfrm>
          </p:grpSpPr>
          <p:sp>
            <p:nvSpPr>
              <p:cNvPr id="135" name="Rectangle"/>
              <p:cNvSpPr/>
              <p:nvPr/>
            </p:nvSpPr>
            <p:spPr>
              <a:xfrm>
                <a:off x="0" y="0"/>
                <a:ext cx="1963593" cy="650565"/>
              </a:xfrm>
              <a:prstGeom prst="rect">
                <a:avLst/>
              </a:prstGeom>
              <a:solidFill>
                <a:srgbClr val="BF7750"/>
              </a:solidFill>
              <a:ln w="25400" cap="flat">
                <a:solidFill>
                  <a:srgbClr val="BF775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577850">
                  <a:lnSpc>
                    <a:spcPct val="90000"/>
                  </a:lnSpc>
                  <a:spcBef>
                    <a:spcPts val="700"/>
                  </a:spcBef>
                  <a:defRPr sz="13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36" name="Proactive Congestion &amp; Bottleneck Mitigation"/>
              <p:cNvSpPr txBox="1"/>
              <p:nvPr/>
            </p:nvSpPr>
            <p:spPr>
              <a:xfrm>
                <a:off x="39624" y="95807"/>
                <a:ext cx="1884346" cy="45895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2831" tIns="52831" rIns="52831" bIns="52831" numCol="1" anchor="ctr">
                <a:spAutoFit/>
              </a:bodyPr>
              <a:lstStyle>
                <a:lvl1pPr algn="ctr" defTabSz="577850">
                  <a:lnSpc>
                    <a:spcPct val="90000"/>
                  </a:lnSpc>
                  <a:spcBef>
                    <a:spcPts val="500"/>
                  </a:spcBef>
                  <a:defRPr b="1" sz="13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Proactive Congestion &amp; Bottleneck Mitigation</a:t>
                </a:r>
              </a:p>
            </p:txBody>
          </p:sp>
        </p:grpSp>
        <p:grpSp>
          <p:nvGrpSpPr>
            <p:cNvPr id="140" name="Group"/>
            <p:cNvGrpSpPr/>
            <p:nvPr/>
          </p:nvGrpSpPr>
          <p:grpSpPr>
            <a:xfrm>
              <a:off x="2238497" y="650565"/>
              <a:ext cx="1963594" cy="2571133"/>
              <a:chOff x="0" y="0"/>
              <a:chExt cx="1963592" cy="2571132"/>
            </a:xfrm>
          </p:grpSpPr>
          <p:sp>
            <p:nvSpPr>
              <p:cNvPr id="138" name="Rectangle"/>
              <p:cNvSpPr/>
              <p:nvPr/>
            </p:nvSpPr>
            <p:spPr>
              <a:xfrm>
                <a:off x="0" y="-1"/>
                <a:ext cx="1963593" cy="2571134"/>
              </a:xfrm>
              <a:prstGeom prst="rect">
                <a:avLst/>
              </a:prstGeom>
              <a:solidFill>
                <a:srgbClr val="E8D8CF">
                  <a:alpha val="90000"/>
                </a:srgbClr>
              </a:solidFill>
              <a:ln w="25400" cap="flat">
                <a:solidFill>
                  <a:srgbClr val="E8D8CF">
                    <a:alpha val="90000"/>
                  </a:srgbClr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577850">
                  <a:lnSpc>
                    <a:spcPct val="90000"/>
                  </a:lnSpc>
                  <a:spcBef>
                    <a:spcPts val="300"/>
                  </a:spcBef>
                  <a:defRPr sz="1300"/>
                </a:pPr>
              </a:p>
            </p:txBody>
          </p:sp>
          <p:sp>
            <p:nvSpPr>
              <p:cNvPr id="139" name="Predicts line congestion and WIP buildup before cycle times exceed takt targets, moving beyond late time-series forecasting.…"/>
              <p:cNvSpPr txBox="1"/>
              <p:nvPr/>
            </p:nvSpPr>
            <p:spPr>
              <a:xfrm>
                <a:off x="0" y="0"/>
                <a:ext cx="1940480" cy="23869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69342" tIns="69342" rIns="69342" bIns="69342" numCol="1" anchor="t">
                <a:spAutoFit/>
              </a:bodyPr>
              <a:lstStyle/>
              <a:p>
                <a:pPr lvl="1" marL="114300" indent="-114300" defTabSz="57785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300"/>
                </a:pPr>
                <a:r>
                  <a:t>Predicts line congestion and WIP buildup before cycle times exceed takt targets, moving beyond late time-series forecasting. </a:t>
                </a:r>
                <a:endParaRPr b="1"/>
              </a:p>
              <a:p>
                <a:pPr lvl="1" marL="114300" indent="-114300" defTabSz="57785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300"/>
                </a:pPr>
                <a:r>
                  <a:t>Gives production planners critical lead time to clear bottlenecks and prevent downstream delays, scrap, or line stoppages.</a:t>
                </a:r>
              </a:p>
            </p:txBody>
          </p:sp>
        </p:grpSp>
        <p:grpSp>
          <p:nvGrpSpPr>
            <p:cNvPr id="143" name="Group"/>
            <p:cNvGrpSpPr/>
            <p:nvPr/>
          </p:nvGrpSpPr>
          <p:grpSpPr>
            <a:xfrm>
              <a:off x="4476994" y="0"/>
              <a:ext cx="1963594" cy="650565"/>
              <a:chOff x="0" y="0"/>
              <a:chExt cx="1963592" cy="650564"/>
            </a:xfrm>
          </p:grpSpPr>
          <p:sp>
            <p:nvSpPr>
              <p:cNvPr id="141" name="Rectangle"/>
              <p:cNvSpPr/>
              <p:nvPr/>
            </p:nvSpPr>
            <p:spPr>
              <a:xfrm>
                <a:off x="0" y="0"/>
                <a:ext cx="1963593" cy="650565"/>
              </a:xfrm>
              <a:prstGeom prst="rect">
                <a:avLst/>
              </a:prstGeom>
              <a:solidFill>
                <a:srgbClr val="BD9B53"/>
              </a:solidFill>
              <a:ln w="25400" cap="flat">
                <a:solidFill>
                  <a:srgbClr val="BD9B53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577850">
                  <a:lnSpc>
                    <a:spcPct val="90000"/>
                  </a:lnSpc>
                  <a:spcBef>
                    <a:spcPts val="700"/>
                  </a:spcBef>
                  <a:defRPr sz="13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42" name="Quality Assurance &amp; Defect Prevention"/>
              <p:cNvSpPr txBox="1"/>
              <p:nvPr/>
            </p:nvSpPr>
            <p:spPr>
              <a:xfrm>
                <a:off x="39624" y="95807"/>
                <a:ext cx="1884346" cy="45895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2831" tIns="52831" rIns="52831" bIns="52831" numCol="1" anchor="ctr">
                <a:spAutoFit/>
              </a:bodyPr>
              <a:lstStyle>
                <a:lvl1pPr algn="ctr" defTabSz="577850">
                  <a:lnSpc>
                    <a:spcPct val="90000"/>
                  </a:lnSpc>
                  <a:spcBef>
                    <a:spcPts val="500"/>
                  </a:spcBef>
                  <a:defRPr b="1" sz="13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Quality Assurance &amp; Defect Prevention</a:t>
                </a:r>
              </a:p>
            </p:txBody>
          </p:sp>
        </p:grpSp>
        <p:grpSp>
          <p:nvGrpSpPr>
            <p:cNvPr id="146" name="Group"/>
            <p:cNvGrpSpPr/>
            <p:nvPr/>
          </p:nvGrpSpPr>
          <p:grpSpPr>
            <a:xfrm>
              <a:off x="4476994" y="650565"/>
              <a:ext cx="1963594" cy="2571133"/>
              <a:chOff x="0" y="0"/>
              <a:chExt cx="1963592" cy="2571132"/>
            </a:xfrm>
          </p:grpSpPr>
          <p:sp>
            <p:nvSpPr>
              <p:cNvPr id="144" name="Rectangle"/>
              <p:cNvSpPr/>
              <p:nvPr/>
            </p:nvSpPr>
            <p:spPr>
              <a:xfrm>
                <a:off x="0" y="-1"/>
                <a:ext cx="1963593" cy="2571134"/>
              </a:xfrm>
              <a:prstGeom prst="rect">
                <a:avLst/>
              </a:prstGeom>
              <a:solidFill>
                <a:srgbClr val="E7E1CF">
                  <a:alpha val="90000"/>
                </a:srgbClr>
              </a:solidFill>
              <a:ln w="25400" cap="flat">
                <a:solidFill>
                  <a:srgbClr val="E7E1CF">
                    <a:alpha val="90000"/>
                  </a:srgbClr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577850">
                  <a:lnSpc>
                    <a:spcPct val="90000"/>
                  </a:lnSpc>
                  <a:spcBef>
                    <a:spcPts val="300"/>
                  </a:spcBef>
                  <a:defRPr sz="1300"/>
                </a:pPr>
              </a:p>
            </p:txBody>
          </p:sp>
          <p:sp>
            <p:nvSpPr>
              <p:cNvPr id="145" name="Eliminates quality escapes usually caught only at final inspection by analyzing live machine and process parameters.…"/>
              <p:cNvSpPr txBox="1"/>
              <p:nvPr/>
            </p:nvSpPr>
            <p:spPr>
              <a:xfrm>
                <a:off x="0" y="0"/>
                <a:ext cx="1940480" cy="23869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69342" tIns="69342" rIns="69342" bIns="69342" numCol="1" anchor="t">
                <a:spAutoFit/>
              </a:bodyPr>
              <a:lstStyle/>
              <a:p>
                <a:pPr lvl="1" marL="114300" indent="-114300" defTabSz="57785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300"/>
                </a:pPr>
                <a:r>
                  <a:t>Eliminates quality escapes usually caught only at final inspection by analyzing live machine and process parameters. </a:t>
                </a:r>
                <a:endParaRPr b="1"/>
              </a:p>
              <a:p>
                <a:pPr lvl="1" marL="114300" indent="-114300" defTabSz="57785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300"/>
                </a:pPr>
                <a:r>
                  <a:t>Flags high-risk vehicles and anomalies early to prevent defects from cascading downstream and reducing rework rates.</a:t>
                </a:r>
              </a:p>
            </p:txBody>
          </p:sp>
        </p:grpSp>
        <p:grpSp>
          <p:nvGrpSpPr>
            <p:cNvPr id="149" name="Group"/>
            <p:cNvGrpSpPr/>
            <p:nvPr/>
          </p:nvGrpSpPr>
          <p:grpSpPr>
            <a:xfrm>
              <a:off x="6715491" y="0"/>
              <a:ext cx="1963594" cy="650565"/>
              <a:chOff x="0" y="0"/>
              <a:chExt cx="1963592" cy="650564"/>
            </a:xfrm>
          </p:grpSpPr>
          <p:sp>
            <p:nvSpPr>
              <p:cNvPr id="147" name="Rectangle"/>
              <p:cNvSpPr/>
              <p:nvPr/>
            </p:nvSpPr>
            <p:spPr>
              <a:xfrm>
                <a:off x="0" y="0"/>
                <a:ext cx="1963593" cy="650565"/>
              </a:xfrm>
              <a:prstGeom prst="rect">
                <a:avLst/>
              </a:prstGeom>
              <a:solidFill>
                <a:srgbClr val="BCBC56"/>
              </a:solidFill>
              <a:ln w="25400" cap="flat">
                <a:solidFill>
                  <a:srgbClr val="BCBC5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577850">
                  <a:lnSpc>
                    <a:spcPct val="90000"/>
                  </a:lnSpc>
                  <a:spcBef>
                    <a:spcPts val="700"/>
                  </a:spcBef>
                  <a:defRPr sz="13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48" name="Material Flow &amp; Inventory Optimization"/>
              <p:cNvSpPr txBox="1"/>
              <p:nvPr/>
            </p:nvSpPr>
            <p:spPr>
              <a:xfrm>
                <a:off x="39624" y="95807"/>
                <a:ext cx="1884346" cy="45895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2831" tIns="52831" rIns="52831" bIns="52831" numCol="1" anchor="ctr">
                <a:spAutoFit/>
              </a:bodyPr>
              <a:lstStyle>
                <a:lvl1pPr algn="ctr" defTabSz="577850">
                  <a:lnSpc>
                    <a:spcPct val="90000"/>
                  </a:lnSpc>
                  <a:spcBef>
                    <a:spcPts val="500"/>
                  </a:spcBef>
                  <a:defRPr b="1" sz="13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Material Flow &amp; Inventory Optimization</a:t>
                </a:r>
              </a:p>
            </p:txBody>
          </p:sp>
        </p:grpSp>
        <p:grpSp>
          <p:nvGrpSpPr>
            <p:cNvPr id="152" name="Group"/>
            <p:cNvGrpSpPr/>
            <p:nvPr/>
          </p:nvGrpSpPr>
          <p:grpSpPr>
            <a:xfrm>
              <a:off x="6715491" y="650565"/>
              <a:ext cx="1963594" cy="2571133"/>
              <a:chOff x="0" y="0"/>
              <a:chExt cx="1963592" cy="2571132"/>
            </a:xfrm>
          </p:grpSpPr>
          <p:sp>
            <p:nvSpPr>
              <p:cNvPr id="150" name="Rectangle"/>
              <p:cNvSpPr/>
              <p:nvPr/>
            </p:nvSpPr>
            <p:spPr>
              <a:xfrm>
                <a:off x="0" y="-1"/>
                <a:ext cx="1963593" cy="2571134"/>
              </a:xfrm>
              <a:prstGeom prst="rect">
                <a:avLst/>
              </a:prstGeom>
              <a:solidFill>
                <a:srgbClr val="E6E7D0">
                  <a:alpha val="90000"/>
                </a:srgbClr>
              </a:solidFill>
              <a:ln w="25400" cap="flat">
                <a:solidFill>
                  <a:srgbClr val="E6E7D0">
                    <a:alpha val="90000"/>
                  </a:srgbClr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577850">
                  <a:lnSpc>
                    <a:spcPct val="90000"/>
                  </a:lnSpc>
                  <a:spcBef>
                    <a:spcPts val="300"/>
                  </a:spcBef>
                  <a:defRPr sz="1300"/>
                </a:pPr>
              </a:p>
            </p:txBody>
          </p:sp>
          <p:sp>
            <p:nvSpPr>
              <p:cNvPr id="151" name="Cross-references live component consumption against inventory levels and supplier schedules to anticipate material shortages.…"/>
              <p:cNvSpPr txBox="1"/>
              <p:nvPr/>
            </p:nvSpPr>
            <p:spPr>
              <a:xfrm>
                <a:off x="0" y="0"/>
                <a:ext cx="1940480" cy="20138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69342" tIns="69342" rIns="69342" bIns="69342" numCol="1" anchor="t">
                <a:spAutoFit/>
              </a:bodyPr>
              <a:lstStyle/>
              <a:p>
                <a:pPr lvl="1" marL="114300" indent="-114300" defTabSz="57785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300"/>
                </a:pPr>
                <a:r>
                  <a:t>Cross-references live component consumption against inventory levels and supplier schedules to anticipate material shortages. </a:t>
                </a:r>
                <a:endParaRPr b="1"/>
              </a:p>
              <a:p>
                <a:pPr lvl="1" marL="114300" indent="-114300" defTabSz="57785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300"/>
                </a:pPr>
                <a:r>
                  <a:t>Optimizes stock levels to prevent production halts while minimizing excess inventory carrying costs.</a:t>
                </a:r>
              </a:p>
            </p:txBody>
          </p:sp>
        </p:grpSp>
        <p:grpSp>
          <p:nvGrpSpPr>
            <p:cNvPr id="155" name="Group"/>
            <p:cNvGrpSpPr/>
            <p:nvPr/>
          </p:nvGrpSpPr>
          <p:grpSpPr>
            <a:xfrm>
              <a:off x="8953989" y="0"/>
              <a:ext cx="1963594" cy="650565"/>
              <a:chOff x="0" y="0"/>
              <a:chExt cx="1963592" cy="650564"/>
            </a:xfrm>
          </p:grpSpPr>
          <p:sp>
            <p:nvSpPr>
              <p:cNvPr id="153" name="Rectangle"/>
              <p:cNvSpPr/>
              <p:nvPr/>
            </p:nvSpPr>
            <p:spPr>
              <a:xfrm>
                <a:off x="0" y="0"/>
                <a:ext cx="1963593" cy="650565"/>
              </a:xfrm>
              <a:prstGeom prst="rect">
                <a:avLst/>
              </a:prstGeom>
              <a:solidFill>
                <a:schemeClr val="accent3"/>
              </a:solidFill>
              <a:ln w="25400" cap="flat">
                <a:solidFill>
                  <a:schemeClr val="accent3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577850">
                  <a:lnSpc>
                    <a:spcPct val="90000"/>
                  </a:lnSpc>
                  <a:spcBef>
                    <a:spcPts val="700"/>
                  </a:spcBef>
                  <a:defRPr sz="13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54" name="Automated Diagnostics &amp; Root-Cause Analysis (RCA)"/>
              <p:cNvSpPr txBox="1"/>
              <p:nvPr/>
            </p:nvSpPr>
            <p:spPr>
              <a:xfrm>
                <a:off x="39624" y="2545"/>
                <a:ext cx="1884346" cy="6454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2831" tIns="52831" rIns="52831" bIns="52831" numCol="1" anchor="ctr">
                <a:spAutoFit/>
              </a:bodyPr>
              <a:lstStyle>
                <a:lvl1pPr algn="ctr" defTabSz="577850">
                  <a:lnSpc>
                    <a:spcPct val="90000"/>
                  </a:lnSpc>
                  <a:spcBef>
                    <a:spcPts val="500"/>
                  </a:spcBef>
                  <a:defRPr b="1" sz="13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Automated Diagnostics &amp; Root-Cause Analysis (RCA)</a:t>
                </a:r>
              </a:p>
            </p:txBody>
          </p:sp>
        </p:grpSp>
        <p:grpSp>
          <p:nvGrpSpPr>
            <p:cNvPr id="158" name="Group"/>
            <p:cNvGrpSpPr/>
            <p:nvPr/>
          </p:nvGrpSpPr>
          <p:grpSpPr>
            <a:xfrm>
              <a:off x="8953989" y="650565"/>
              <a:ext cx="1963594" cy="2573451"/>
              <a:chOff x="0" y="0"/>
              <a:chExt cx="1963592" cy="2573449"/>
            </a:xfrm>
          </p:grpSpPr>
          <p:sp>
            <p:nvSpPr>
              <p:cNvPr id="156" name="Rectangle"/>
              <p:cNvSpPr/>
              <p:nvPr/>
            </p:nvSpPr>
            <p:spPr>
              <a:xfrm>
                <a:off x="0" y="0"/>
                <a:ext cx="1963593" cy="2571133"/>
              </a:xfrm>
              <a:prstGeom prst="rect">
                <a:avLst/>
              </a:prstGeom>
              <a:solidFill>
                <a:srgbClr val="DDE7D0">
                  <a:alpha val="90000"/>
                </a:srgbClr>
              </a:solidFill>
              <a:ln w="25400" cap="flat">
                <a:solidFill>
                  <a:srgbClr val="DDE7D0">
                    <a:alpha val="90000"/>
                  </a:srgbClr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577850">
                  <a:lnSpc>
                    <a:spcPct val="90000"/>
                  </a:lnSpc>
                  <a:spcBef>
                    <a:spcPts val="300"/>
                  </a:spcBef>
                </a:pPr>
              </a:p>
            </p:txBody>
          </p:sp>
          <p:sp>
            <p:nvSpPr>
              <p:cNvPr id="157" name="Replaces slow manual investigations with automated correlation engines that link process, machine, maintenance, quality, and material data.…"/>
              <p:cNvSpPr txBox="1"/>
              <p:nvPr/>
            </p:nvSpPr>
            <p:spPr>
              <a:xfrm>
                <a:off x="0" y="0"/>
                <a:ext cx="1940480" cy="257345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69342" tIns="69342" rIns="69342" bIns="69342" numCol="1" anchor="t">
                <a:spAutoFit/>
              </a:bodyPr>
              <a:lstStyle/>
              <a:p>
                <a:pPr lvl="1" marL="114300" indent="-114300" defTabSz="57785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300"/>
                </a:pPr>
                <a:r>
                  <a:t>Replaces slow manual investigations with automated correlation engines that link process, machine, maintenance, quality, and material data. </a:t>
                </a:r>
              </a:p>
              <a:p>
                <a:pPr lvl="1" marL="114300" indent="-114300" defTabSz="57785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300"/>
                </a:pPr>
                <a:r>
                  <a:t>Generates ranked, explained contributing factors and actionable recommendations to help teams resolve operational risks swiftly. 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2"/>
          <p:cNvSpPr/>
          <p:nvPr/>
        </p:nvSpPr>
        <p:spPr>
          <a:xfrm>
            <a:off x="0" y="8313"/>
            <a:ext cx="12192000" cy="6858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Straight Connector 13"/>
          <p:cNvSpPr/>
          <p:nvPr/>
        </p:nvSpPr>
        <p:spPr>
          <a:xfrm flipH="1">
            <a:off x="4728052" y="1132114"/>
            <a:ext cx="1" cy="5717574"/>
          </a:xfrm>
          <a:prstGeom prst="line">
            <a:avLst/>
          </a:prstGeom>
          <a:ln w="25400" cap="sq">
            <a:solidFill>
              <a:srgbClr val="886985"/>
            </a:solidFill>
            <a:bevel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78" name="Diagram 1"/>
          <p:cNvGrpSpPr/>
          <p:nvPr/>
        </p:nvGrpSpPr>
        <p:grpSpPr>
          <a:xfrm>
            <a:off x="5108535" y="1565186"/>
            <a:ext cx="6245265" cy="4600574"/>
            <a:chOff x="0" y="0"/>
            <a:chExt cx="6245264" cy="4600573"/>
          </a:xfrm>
        </p:grpSpPr>
        <p:grpSp>
          <p:nvGrpSpPr>
            <p:cNvPr id="165" name="Group"/>
            <p:cNvGrpSpPr/>
            <p:nvPr/>
          </p:nvGrpSpPr>
          <p:grpSpPr>
            <a:xfrm>
              <a:off x="0" y="0"/>
              <a:ext cx="6245265" cy="839474"/>
              <a:chOff x="0" y="0"/>
              <a:chExt cx="6245264" cy="839473"/>
            </a:xfrm>
          </p:grpSpPr>
          <p:sp>
            <p:nvSpPr>
              <p:cNvPr id="163" name="Rounded Rectangle"/>
              <p:cNvSpPr/>
              <p:nvPr/>
            </p:nvSpPr>
            <p:spPr>
              <a:xfrm>
                <a:off x="0" y="0"/>
                <a:ext cx="6245265" cy="839474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555750">
                  <a:lnSpc>
                    <a:spcPct val="90000"/>
                  </a:lnSpc>
                  <a:spcBef>
                    <a:spcPts val="700"/>
                  </a:spcBef>
                  <a:defRPr sz="35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64" name="Graph aware reasoning"/>
              <p:cNvSpPr txBox="1"/>
              <p:nvPr/>
            </p:nvSpPr>
            <p:spPr>
              <a:xfrm>
                <a:off x="40979" y="62388"/>
                <a:ext cx="6163306" cy="7146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33350" tIns="133350" rIns="133350" bIns="133350" numCol="1" anchor="ctr">
                <a:spAutoFit/>
              </a:bodyPr>
              <a:lstStyle>
                <a:lvl1pPr defTabSz="1555750">
                  <a:lnSpc>
                    <a:spcPct val="90000"/>
                  </a:lnSpc>
                  <a:spcBef>
                    <a:spcPts val="1400"/>
                  </a:spcBef>
                  <a:defRPr sz="35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Graph aware reasoning</a:t>
                </a:r>
              </a:p>
            </p:txBody>
          </p:sp>
        </p:grpSp>
        <p:grpSp>
          <p:nvGrpSpPr>
            <p:cNvPr id="168" name="Group"/>
            <p:cNvGrpSpPr/>
            <p:nvPr/>
          </p:nvGrpSpPr>
          <p:grpSpPr>
            <a:xfrm>
              <a:off x="0" y="940274"/>
              <a:ext cx="6245265" cy="839475"/>
              <a:chOff x="0" y="0"/>
              <a:chExt cx="6245264" cy="839473"/>
            </a:xfrm>
          </p:grpSpPr>
          <p:sp>
            <p:nvSpPr>
              <p:cNvPr id="166" name="Rounded Rectangle"/>
              <p:cNvSpPr/>
              <p:nvPr/>
            </p:nvSpPr>
            <p:spPr>
              <a:xfrm>
                <a:off x="0" y="0"/>
                <a:ext cx="6245265" cy="839474"/>
              </a:xfrm>
              <a:prstGeom prst="roundRect">
                <a:avLst>
                  <a:gd name="adj" fmla="val 16667"/>
                </a:avLst>
              </a:prstGeom>
              <a:solidFill>
                <a:srgbClr val="BF775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555750">
                  <a:lnSpc>
                    <a:spcPct val="90000"/>
                  </a:lnSpc>
                  <a:spcBef>
                    <a:spcPts val="700"/>
                  </a:spcBef>
                  <a:defRPr sz="35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67" name="Reactive + proactive intelligence"/>
              <p:cNvSpPr txBox="1"/>
              <p:nvPr/>
            </p:nvSpPr>
            <p:spPr>
              <a:xfrm>
                <a:off x="40979" y="62388"/>
                <a:ext cx="6163306" cy="7146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33350" tIns="133350" rIns="133350" bIns="133350" numCol="1" anchor="ctr">
                <a:spAutoFit/>
              </a:bodyPr>
              <a:lstStyle>
                <a:lvl1pPr defTabSz="1555750">
                  <a:lnSpc>
                    <a:spcPct val="90000"/>
                  </a:lnSpc>
                  <a:spcBef>
                    <a:spcPts val="1400"/>
                  </a:spcBef>
                  <a:defRPr sz="35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Reactive + proactive intelligence</a:t>
                </a:r>
              </a:p>
            </p:txBody>
          </p:sp>
        </p:grpSp>
        <p:grpSp>
          <p:nvGrpSpPr>
            <p:cNvPr id="171" name="Group"/>
            <p:cNvGrpSpPr/>
            <p:nvPr/>
          </p:nvGrpSpPr>
          <p:grpSpPr>
            <a:xfrm>
              <a:off x="0" y="1880549"/>
              <a:ext cx="6245265" cy="839475"/>
              <a:chOff x="0" y="0"/>
              <a:chExt cx="6245264" cy="839473"/>
            </a:xfrm>
          </p:grpSpPr>
          <p:sp>
            <p:nvSpPr>
              <p:cNvPr id="169" name="Rounded Rectangle"/>
              <p:cNvSpPr/>
              <p:nvPr/>
            </p:nvSpPr>
            <p:spPr>
              <a:xfrm>
                <a:off x="0" y="0"/>
                <a:ext cx="6245265" cy="839474"/>
              </a:xfrm>
              <a:prstGeom prst="roundRect">
                <a:avLst>
                  <a:gd name="adj" fmla="val 16667"/>
                </a:avLst>
              </a:prstGeom>
              <a:solidFill>
                <a:srgbClr val="BD9B5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555750">
                  <a:lnSpc>
                    <a:spcPct val="90000"/>
                  </a:lnSpc>
                  <a:spcBef>
                    <a:spcPts val="700"/>
                  </a:spcBef>
                  <a:defRPr sz="35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0" name="Multi-source fusion"/>
              <p:cNvSpPr txBox="1"/>
              <p:nvPr/>
            </p:nvSpPr>
            <p:spPr>
              <a:xfrm>
                <a:off x="40979" y="62388"/>
                <a:ext cx="6163306" cy="7146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33350" tIns="133350" rIns="133350" bIns="133350" numCol="1" anchor="ctr">
                <a:spAutoFit/>
              </a:bodyPr>
              <a:lstStyle>
                <a:lvl1pPr defTabSz="1555750">
                  <a:lnSpc>
                    <a:spcPct val="90000"/>
                  </a:lnSpc>
                  <a:spcBef>
                    <a:spcPts val="1400"/>
                  </a:spcBef>
                  <a:defRPr sz="35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Multi-source fusion</a:t>
                </a:r>
              </a:p>
            </p:txBody>
          </p:sp>
        </p:grpSp>
        <p:grpSp>
          <p:nvGrpSpPr>
            <p:cNvPr id="174" name="Group"/>
            <p:cNvGrpSpPr/>
            <p:nvPr/>
          </p:nvGrpSpPr>
          <p:grpSpPr>
            <a:xfrm>
              <a:off x="0" y="2820824"/>
              <a:ext cx="6245265" cy="839475"/>
              <a:chOff x="0" y="0"/>
              <a:chExt cx="6245264" cy="839473"/>
            </a:xfrm>
          </p:grpSpPr>
          <p:sp>
            <p:nvSpPr>
              <p:cNvPr id="172" name="Rounded Rectangle"/>
              <p:cNvSpPr/>
              <p:nvPr/>
            </p:nvSpPr>
            <p:spPr>
              <a:xfrm>
                <a:off x="0" y="0"/>
                <a:ext cx="6245265" cy="839474"/>
              </a:xfrm>
              <a:prstGeom prst="roundRect">
                <a:avLst>
                  <a:gd name="adj" fmla="val 16667"/>
                </a:avLst>
              </a:prstGeom>
              <a:solidFill>
                <a:srgbClr val="BCBC5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555750">
                  <a:lnSpc>
                    <a:spcPct val="90000"/>
                  </a:lnSpc>
                  <a:spcBef>
                    <a:spcPts val="700"/>
                  </a:spcBef>
                  <a:defRPr sz="35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3" name="Explainable decision support"/>
              <p:cNvSpPr txBox="1"/>
              <p:nvPr/>
            </p:nvSpPr>
            <p:spPr>
              <a:xfrm>
                <a:off x="40979" y="62388"/>
                <a:ext cx="6163306" cy="7146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33350" tIns="133350" rIns="133350" bIns="133350" numCol="1" anchor="ctr">
                <a:spAutoFit/>
              </a:bodyPr>
              <a:lstStyle>
                <a:lvl1pPr defTabSz="1555750">
                  <a:lnSpc>
                    <a:spcPct val="90000"/>
                  </a:lnSpc>
                  <a:spcBef>
                    <a:spcPts val="1400"/>
                  </a:spcBef>
                  <a:defRPr sz="35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Explainable decision support</a:t>
                </a:r>
              </a:p>
            </p:txBody>
          </p:sp>
        </p:grpSp>
        <p:grpSp>
          <p:nvGrpSpPr>
            <p:cNvPr id="177" name="Group"/>
            <p:cNvGrpSpPr/>
            <p:nvPr/>
          </p:nvGrpSpPr>
          <p:grpSpPr>
            <a:xfrm>
              <a:off x="0" y="3761099"/>
              <a:ext cx="6245265" cy="839475"/>
              <a:chOff x="0" y="0"/>
              <a:chExt cx="6245264" cy="839473"/>
            </a:xfrm>
          </p:grpSpPr>
          <p:sp>
            <p:nvSpPr>
              <p:cNvPr id="175" name="Rounded Rectangle"/>
              <p:cNvSpPr/>
              <p:nvPr/>
            </p:nvSpPr>
            <p:spPr>
              <a:xfrm>
                <a:off x="0" y="0"/>
                <a:ext cx="6245265" cy="839474"/>
              </a:xfrm>
              <a:prstGeom prst="roundRect">
                <a:avLst>
                  <a:gd name="adj" fmla="val 16667"/>
                </a:avLst>
              </a:prstGeom>
              <a:solidFill>
                <a:schemeClr val="accent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555750">
                  <a:lnSpc>
                    <a:spcPct val="90000"/>
                  </a:lnSpc>
                  <a:spcBef>
                    <a:spcPts val="700"/>
                  </a:spcBef>
                  <a:defRPr sz="35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6" name="Human-in-the-loop design"/>
              <p:cNvSpPr txBox="1"/>
              <p:nvPr/>
            </p:nvSpPr>
            <p:spPr>
              <a:xfrm>
                <a:off x="40979" y="62388"/>
                <a:ext cx="6163306" cy="7146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33350" tIns="133350" rIns="133350" bIns="133350" numCol="1" anchor="ctr">
                <a:spAutoFit/>
              </a:bodyPr>
              <a:lstStyle>
                <a:lvl1pPr defTabSz="1555750">
                  <a:lnSpc>
                    <a:spcPct val="90000"/>
                  </a:lnSpc>
                  <a:spcBef>
                    <a:spcPts val="1400"/>
                  </a:spcBef>
                  <a:defRPr sz="35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Human-in-the-loop design</a:t>
                </a:r>
              </a:p>
            </p:txBody>
          </p:sp>
        </p:grpSp>
      </p:grpSp>
      <p:sp>
        <p:nvSpPr>
          <p:cNvPr id="179" name="TextBox 1835"/>
          <p:cNvSpPr txBox="1"/>
          <p:nvPr/>
        </p:nvSpPr>
        <p:spPr>
          <a:xfrm>
            <a:off x="971354" y="2673294"/>
            <a:ext cx="2922528" cy="1183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3600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Technical Novelty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Picture 16" descr="Picture 16"/>
          <p:cNvPicPr>
            <a:picLocks noChangeAspect="1"/>
          </p:cNvPicPr>
          <p:nvPr/>
        </p:nvPicPr>
        <p:blipFill>
          <a:blip r:embed="rId2">
            <a:extLst/>
          </a:blip>
          <a:srcRect l="0" t="0" r="887" b="0"/>
          <a:stretch>
            <a:fillRect/>
          </a:stretch>
        </p:blipFill>
        <p:spPr>
          <a:xfrm>
            <a:off x="19" y="10"/>
            <a:ext cx="12191982" cy="68579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Rectangle 10"/>
          <p:cNvSpPr/>
          <p:nvPr/>
        </p:nvSpPr>
        <p:spPr>
          <a:xfrm flipH="1" rot="10800000">
            <a:off x="1" y="-1"/>
            <a:ext cx="12192000" cy="1575957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rgbClr val="376092"/>
              </a:gs>
            </a:gsLst>
            <a:lin ang="60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Rectangle 12"/>
          <p:cNvSpPr/>
          <p:nvPr/>
        </p:nvSpPr>
        <p:spPr>
          <a:xfrm>
            <a:off x="0" y="-1"/>
            <a:ext cx="8128856" cy="1575463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rgbClr val="95B3D7">
                  <a:alpha val="0"/>
                </a:srgbClr>
              </a:gs>
            </a:gsLst>
            <a:lin ang="8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" name="Rectangle 14"/>
          <p:cNvSpPr/>
          <p:nvPr/>
        </p:nvSpPr>
        <p:spPr>
          <a:xfrm flipH="1">
            <a:off x="-3" y="-1"/>
            <a:ext cx="12192003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TextBox 2"/>
          <p:cNvSpPr txBox="1"/>
          <p:nvPr/>
        </p:nvSpPr>
        <p:spPr>
          <a:xfrm>
            <a:off x="745433" y="248038"/>
            <a:ext cx="6972281" cy="1159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defTabSz="914400">
              <a:lnSpc>
                <a:spcPct val="90000"/>
              </a:lnSpc>
              <a:spcBef>
                <a:spcPts val="600"/>
              </a:spcBef>
              <a:defRPr sz="40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POC Scope Alignment</a:t>
            </a:r>
          </a:p>
        </p:txBody>
      </p:sp>
      <p:graphicFrame>
        <p:nvGraphicFramePr>
          <p:cNvPr id="188" name="Table 3"/>
          <p:cNvGraphicFramePr/>
          <p:nvPr/>
        </p:nvGraphicFramePr>
        <p:xfrm>
          <a:off x="435427" y="2079170"/>
          <a:ext cx="11327550" cy="4232685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3012621"/>
                <a:gridCol w="8314928"/>
              </a:tblGrid>
              <a:tr h="467935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400">
                          <a:solidFill>
                            <a:srgbClr val="FFFFFF"/>
                          </a:solidFill>
                          <a:latin typeface="Aptos Display"/>
                          <a:ea typeface="Aptos Display"/>
                          <a:cs typeface="Aptos Display"/>
                          <a:sym typeface="Aptos Display"/>
                        </a:rPr>
                        <a:t>MVP Element</a:t>
                      </a:r>
                    </a:p>
                  </a:txBody>
                  <a:tcPr marL="53174" marR="53174" marT="53174" marB="53174" anchor="ctr" anchorCtr="0" horzOverflow="overflow">
                    <a:lnL>
                      <a:solidFill>
                        <a:srgbClr val="4A7EBB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400">
                          <a:solidFill>
                            <a:srgbClr val="FFFFFF"/>
                          </a:solidFill>
                          <a:latin typeface="Aptos Display"/>
                          <a:ea typeface="Aptos Display"/>
                          <a:cs typeface="Aptos Display"/>
                          <a:sym typeface="Aptos Display"/>
                        </a:rPr>
                        <a:t>TwinLine Proposal Alignment</a:t>
                      </a:r>
                    </a:p>
                  </a:txBody>
                  <a:tcPr marL="53174" marR="53174" marT="53174" marB="53174" anchor="ctr" anchorCtr="0" horzOverflow="overflow">
                    <a:lnR>
                      <a:solidFill>
                        <a:srgbClr val="4A7EBB"/>
                      </a:solidFill>
                    </a:lnR>
                  </a:tcPr>
                </a:tc>
              </a:tr>
              <a:tr h="78698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latin typeface="Aptos Display"/>
                          <a:ea typeface="Aptos Display"/>
                          <a:cs typeface="Aptos Display"/>
                          <a:sym typeface="Aptos Display"/>
                        </a:rPr>
                        <a:t>Data sources</a:t>
                      </a:r>
                    </a:p>
                  </a:txBody>
                  <a:tcPr marL="53174" marR="53174" marT="53174" marB="53174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>
                          <a:latin typeface="Aptos Display"/>
                          <a:ea typeface="Aptos Display"/>
                          <a:cs typeface="Aptos Display"/>
                          <a:sym typeface="Aptos Display"/>
                        </a:rPr>
                        <a:t>Shopfloor systems + MES-style events + reference/master data</a:t>
                      </a:r>
                    </a:p>
                  </a:txBody>
                  <a:tcPr marL="53174" marR="53174" marT="53174" marB="53174" anchor="ctr" anchorCtr="0" horzOverflow="overflow"/>
                </a:tc>
              </a:tr>
              <a:tr h="78698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latin typeface="Aptos Display"/>
                          <a:ea typeface="Aptos Display"/>
                          <a:cs typeface="Aptos Display"/>
                          <a:sym typeface="Aptos Display"/>
                        </a:rPr>
                        <a:t>Digital Twin</a:t>
                      </a:r>
                    </a:p>
                  </a:txBody>
                  <a:tcPr marL="53174" marR="53174" marT="53174" marB="53174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>
                          <a:latin typeface="Aptos Display"/>
                          <a:ea typeface="Aptos Display"/>
                          <a:cs typeface="Aptos Display"/>
                          <a:sym typeface="Aptos Display"/>
                        </a:rPr>
                        <a:t>Live graph of stations, vehicles, WIP and process dependencies</a:t>
                      </a:r>
                    </a:p>
                  </a:txBody>
                  <a:tcPr marL="53174" marR="53174" marT="53174" marB="53174" anchor="ctr" anchorCtr="0" horzOverflow="overflow">
                    <a:noFill/>
                  </a:tcPr>
                </a:tc>
              </a:tr>
              <a:tr h="46793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latin typeface="Aptos Display"/>
                          <a:ea typeface="Aptos Display"/>
                          <a:cs typeface="Aptos Display"/>
                          <a:sym typeface="Aptos Display"/>
                        </a:rPr>
                        <a:t>AI</a:t>
                      </a:r>
                    </a:p>
                  </a:txBody>
                  <a:tcPr marL="53174" marR="53174" marT="53174" marB="53174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>
                          <a:latin typeface="Aptos Display"/>
                          <a:ea typeface="Aptos Display"/>
                          <a:cs typeface="Aptos Display"/>
                          <a:sym typeface="Aptos Display"/>
                        </a:rPr>
                        <a:t>Anomaly detection + proactive bottleneck prediction</a:t>
                      </a:r>
                    </a:p>
                  </a:txBody>
                  <a:tcPr marL="53174" marR="53174" marT="53174" marB="53174" anchor="ctr" anchorCtr="0" horzOverflow="overflow"/>
                </a:tc>
              </a:tr>
              <a:tr h="78698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latin typeface="Aptos Display"/>
                          <a:ea typeface="Aptos Display"/>
                          <a:cs typeface="Aptos Display"/>
                          <a:sym typeface="Aptos Display"/>
                        </a:rPr>
                        <a:t>Users</a:t>
                      </a:r>
                    </a:p>
                  </a:txBody>
                  <a:tcPr marL="53174" marR="53174" marT="53174" marB="53174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>
                          <a:latin typeface="Aptos Display"/>
                          <a:ea typeface="Aptos Display"/>
                          <a:cs typeface="Aptos Display"/>
                          <a:sym typeface="Aptos Display"/>
                        </a:rPr>
                        <a:t>Plant Operator, Maintenance Engineer, Production Planner</a:t>
                      </a:r>
                    </a:p>
                  </a:txBody>
                  <a:tcPr marL="53174" marR="53174" marT="53174" marB="53174" anchor="ctr" anchorCtr="0" horzOverflow="overflow">
                    <a:noFill/>
                  </a:tcPr>
                </a:tc>
              </a:tr>
              <a:tr h="46793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latin typeface="Aptos Display"/>
                          <a:ea typeface="Aptos Display"/>
                          <a:cs typeface="Aptos Display"/>
                          <a:sym typeface="Aptos Display"/>
                        </a:rPr>
                        <a:t>Dashboards</a:t>
                      </a:r>
                    </a:p>
                  </a:txBody>
                  <a:tcPr marL="53174" marR="53174" marT="53174" marB="53174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>
                          <a:latin typeface="Aptos Display"/>
                          <a:ea typeface="Aptos Display"/>
                          <a:cs typeface="Aptos Display"/>
                          <a:sym typeface="Aptos Display"/>
                        </a:rPr>
                        <a:t>Live Line Dashboard + Prediction Cockpit</a:t>
                      </a:r>
                    </a:p>
                  </a:txBody>
                  <a:tcPr marL="53174" marR="53174" marT="53174" marB="53174" anchor="ctr" anchorCtr="0" horzOverflow="overflow"/>
                </a:tc>
              </a:tr>
              <a:tr h="46793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latin typeface="Aptos Display"/>
                          <a:ea typeface="Aptos Display"/>
                          <a:cs typeface="Aptos Display"/>
                          <a:sym typeface="Aptos Display"/>
                        </a:rPr>
                        <a:t>Business outcomes</a:t>
                      </a:r>
                    </a:p>
                  </a:txBody>
                  <a:tcPr marL="53174" marR="53174" marT="53174" marB="53174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>
                          <a:latin typeface="Aptos Display"/>
                          <a:ea typeface="Aptos Display"/>
                          <a:cs typeface="Aptos Display"/>
                          <a:sym typeface="Aptos Display"/>
                        </a:rPr>
                        <a:t>Downtime ↓ Throughput ↑ WIP ↓</a:t>
                      </a:r>
                    </a:p>
                  </a:txBody>
                  <a:tcPr marL="53174" marR="53174" marT="53174" marB="53174" anchor="ctr" anchorCtr="0" horzOverflow="overflow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9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TextBox 2"/>
          <p:cNvSpPr txBox="1"/>
          <p:nvPr/>
        </p:nvSpPr>
        <p:spPr>
          <a:xfrm>
            <a:off x="618212" y="238539"/>
            <a:ext cx="9424853" cy="443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normAutofit fontScale="100000" lnSpcReduction="0"/>
          </a:bodyPr>
          <a:lstStyle>
            <a:lvl1pPr defTabSz="896111">
              <a:lnSpc>
                <a:spcPct val="72000"/>
              </a:lnSpc>
              <a:spcBef>
                <a:spcPts val="500"/>
              </a:spcBef>
              <a:defRPr sz="2842"/>
            </a:lvl1pPr>
          </a:lstStyle>
          <a:p>
            <a:pPr/>
            <a:r>
              <a:t>Key risks and Mitigation</a:t>
            </a:r>
          </a:p>
        </p:txBody>
      </p:sp>
      <p:grpSp>
        <p:nvGrpSpPr>
          <p:cNvPr id="194" name="sketchy line"/>
          <p:cNvGrpSpPr/>
          <p:nvPr/>
        </p:nvGrpSpPr>
        <p:grpSpPr>
          <a:xfrm>
            <a:off x="572180" y="1655805"/>
            <a:ext cx="10973141" cy="59619"/>
            <a:chOff x="0" y="0"/>
            <a:chExt cx="10973139" cy="59618"/>
          </a:xfrm>
        </p:grpSpPr>
        <p:sp>
          <p:nvSpPr>
            <p:cNvPr id="192" name="Shape"/>
            <p:cNvSpPr/>
            <p:nvPr/>
          </p:nvSpPr>
          <p:spPr>
            <a:xfrm>
              <a:off x="0" y="0"/>
              <a:ext cx="10973140" cy="59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271" fill="norm" stroke="1" extrusionOk="0">
                  <a:moveTo>
                    <a:pt x="1" y="6161"/>
                  </a:moveTo>
                  <a:cubicBezTo>
                    <a:pt x="324" y="1930"/>
                    <a:pt x="610" y="8534"/>
                    <a:pt x="919" y="6161"/>
                  </a:cubicBezTo>
                  <a:cubicBezTo>
                    <a:pt x="1228" y="3788"/>
                    <a:pt x="1298" y="2684"/>
                    <a:pt x="1621" y="6161"/>
                  </a:cubicBezTo>
                  <a:cubicBezTo>
                    <a:pt x="1943" y="9638"/>
                    <a:pt x="2176" y="2216"/>
                    <a:pt x="2539" y="6161"/>
                  </a:cubicBezTo>
                  <a:cubicBezTo>
                    <a:pt x="2901" y="10106"/>
                    <a:pt x="3334" y="12423"/>
                    <a:pt x="3888" y="6161"/>
                  </a:cubicBezTo>
                  <a:cubicBezTo>
                    <a:pt x="4443" y="-101"/>
                    <a:pt x="4795" y="11681"/>
                    <a:pt x="5454" y="6161"/>
                  </a:cubicBezTo>
                  <a:cubicBezTo>
                    <a:pt x="6113" y="641"/>
                    <a:pt x="6393" y="-4374"/>
                    <a:pt x="7236" y="6161"/>
                  </a:cubicBezTo>
                  <a:cubicBezTo>
                    <a:pt x="8079" y="16696"/>
                    <a:pt x="8427" y="7122"/>
                    <a:pt x="9018" y="6161"/>
                  </a:cubicBezTo>
                  <a:cubicBezTo>
                    <a:pt x="9609" y="5199"/>
                    <a:pt x="9885" y="3315"/>
                    <a:pt x="10152" y="6161"/>
                  </a:cubicBezTo>
                  <a:cubicBezTo>
                    <a:pt x="10419" y="9007"/>
                    <a:pt x="11030" y="1925"/>
                    <a:pt x="11718" y="6161"/>
                  </a:cubicBezTo>
                  <a:cubicBezTo>
                    <a:pt x="12405" y="10397"/>
                    <a:pt x="12506" y="3310"/>
                    <a:pt x="13067" y="6161"/>
                  </a:cubicBezTo>
                  <a:cubicBezTo>
                    <a:pt x="13629" y="9012"/>
                    <a:pt x="13884" y="11338"/>
                    <a:pt x="14201" y="6161"/>
                  </a:cubicBezTo>
                  <a:cubicBezTo>
                    <a:pt x="14519" y="983"/>
                    <a:pt x="15428" y="7091"/>
                    <a:pt x="15767" y="6161"/>
                  </a:cubicBezTo>
                  <a:cubicBezTo>
                    <a:pt x="16106" y="5231"/>
                    <a:pt x="16189" y="9993"/>
                    <a:pt x="16469" y="6161"/>
                  </a:cubicBezTo>
                  <a:cubicBezTo>
                    <a:pt x="16750" y="2329"/>
                    <a:pt x="17101" y="4792"/>
                    <a:pt x="17603" y="6161"/>
                  </a:cubicBezTo>
                  <a:cubicBezTo>
                    <a:pt x="18105" y="7530"/>
                    <a:pt x="18441" y="11063"/>
                    <a:pt x="18953" y="6161"/>
                  </a:cubicBezTo>
                  <a:cubicBezTo>
                    <a:pt x="19465" y="1259"/>
                    <a:pt x="20788" y="1195"/>
                    <a:pt x="21599" y="6161"/>
                  </a:cubicBezTo>
                  <a:cubicBezTo>
                    <a:pt x="21597" y="7531"/>
                    <a:pt x="21599" y="9152"/>
                    <a:pt x="21599" y="10538"/>
                  </a:cubicBezTo>
                  <a:cubicBezTo>
                    <a:pt x="21231" y="9162"/>
                    <a:pt x="20912" y="9520"/>
                    <a:pt x="20681" y="10538"/>
                  </a:cubicBezTo>
                  <a:cubicBezTo>
                    <a:pt x="20450" y="11557"/>
                    <a:pt x="20267" y="10974"/>
                    <a:pt x="19979" y="10538"/>
                  </a:cubicBezTo>
                  <a:cubicBezTo>
                    <a:pt x="19691" y="10103"/>
                    <a:pt x="19226" y="13077"/>
                    <a:pt x="18629" y="10538"/>
                  </a:cubicBezTo>
                  <a:cubicBezTo>
                    <a:pt x="18032" y="8000"/>
                    <a:pt x="18166" y="6797"/>
                    <a:pt x="17711" y="10538"/>
                  </a:cubicBezTo>
                  <a:cubicBezTo>
                    <a:pt x="17256" y="14280"/>
                    <a:pt x="16417" y="14506"/>
                    <a:pt x="15929" y="10538"/>
                  </a:cubicBezTo>
                  <a:cubicBezTo>
                    <a:pt x="15442" y="6571"/>
                    <a:pt x="15479" y="12721"/>
                    <a:pt x="15227" y="10538"/>
                  </a:cubicBezTo>
                  <a:cubicBezTo>
                    <a:pt x="14976" y="8356"/>
                    <a:pt x="14416" y="6271"/>
                    <a:pt x="13877" y="10538"/>
                  </a:cubicBezTo>
                  <a:cubicBezTo>
                    <a:pt x="13339" y="14806"/>
                    <a:pt x="13361" y="12913"/>
                    <a:pt x="13175" y="10538"/>
                  </a:cubicBezTo>
                  <a:cubicBezTo>
                    <a:pt x="12989" y="8164"/>
                    <a:pt x="12589" y="10736"/>
                    <a:pt x="12258" y="10538"/>
                  </a:cubicBezTo>
                  <a:cubicBezTo>
                    <a:pt x="11927" y="10341"/>
                    <a:pt x="11060" y="6422"/>
                    <a:pt x="10692" y="10538"/>
                  </a:cubicBezTo>
                  <a:cubicBezTo>
                    <a:pt x="10324" y="14655"/>
                    <a:pt x="9310" y="3851"/>
                    <a:pt x="8910" y="10538"/>
                  </a:cubicBezTo>
                  <a:cubicBezTo>
                    <a:pt x="8509" y="17226"/>
                    <a:pt x="8301" y="6342"/>
                    <a:pt x="7992" y="10538"/>
                  </a:cubicBezTo>
                  <a:cubicBezTo>
                    <a:pt x="7683" y="14735"/>
                    <a:pt x="6964" y="16238"/>
                    <a:pt x="6642" y="10538"/>
                  </a:cubicBezTo>
                  <a:cubicBezTo>
                    <a:pt x="6320" y="4839"/>
                    <a:pt x="6155" y="15529"/>
                    <a:pt x="5724" y="10538"/>
                  </a:cubicBezTo>
                  <a:cubicBezTo>
                    <a:pt x="5293" y="5548"/>
                    <a:pt x="4903" y="14323"/>
                    <a:pt x="4158" y="10538"/>
                  </a:cubicBezTo>
                  <a:cubicBezTo>
                    <a:pt x="3414" y="6754"/>
                    <a:pt x="3435" y="4420"/>
                    <a:pt x="3024" y="10538"/>
                  </a:cubicBezTo>
                  <a:cubicBezTo>
                    <a:pt x="2614" y="16657"/>
                    <a:pt x="2341" y="7701"/>
                    <a:pt x="2107" y="10538"/>
                  </a:cubicBezTo>
                  <a:cubicBezTo>
                    <a:pt x="1872" y="13376"/>
                    <a:pt x="1690" y="14224"/>
                    <a:pt x="1405" y="10538"/>
                  </a:cubicBezTo>
                  <a:cubicBezTo>
                    <a:pt x="1119" y="6853"/>
                    <a:pt x="493" y="7456"/>
                    <a:pt x="1" y="10538"/>
                  </a:cubicBezTo>
                  <a:cubicBezTo>
                    <a:pt x="2" y="9288"/>
                    <a:pt x="-1" y="8322"/>
                    <a:pt x="1" y="6161"/>
                  </a:cubicBezTo>
                  <a:close/>
                </a:path>
              </a:pathLst>
            </a:custGeom>
            <a:solidFill>
              <a:schemeClr val="accent2">
                <a:alpha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3" name="Shape"/>
            <p:cNvSpPr/>
            <p:nvPr/>
          </p:nvSpPr>
          <p:spPr>
            <a:xfrm>
              <a:off x="241" y="5459"/>
              <a:ext cx="10972872" cy="541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2593" fill="norm" stroke="1" extrusionOk="0">
                  <a:moveTo>
                    <a:pt x="1" y="4718"/>
                  </a:moveTo>
                  <a:cubicBezTo>
                    <a:pt x="327" y="4284"/>
                    <a:pt x="372" y="7919"/>
                    <a:pt x="703" y="4718"/>
                  </a:cubicBezTo>
                  <a:cubicBezTo>
                    <a:pt x="1033" y="1518"/>
                    <a:pt x="1447" y="6794"/>
                    <a:pt x="2052" y="4718"/>
                  </a:cubicBezTo>
                  <a:cubicBezTo>
                    <a:pt x="2658" y="2643"/>
                    <a:pt x="3142" y="-1404"/>
                    <a:pt x="3834" y="4718"/>
                  </a:cubicBezTo>
                  <a:cubicBezTo>
                    <a:pt x="4527" y="10841"/>
                    <a:pt x="4514" y="176"/>
                    <a:pt x="5184" y="4718"/>
                  </a:cubicBezTo>
                  <a:cubicBezTo>
                    <a:pt x="5855" y="9261"/>
                    <a:pt x="5625" y="7225"/>
                    <a:pt x="5886" y="4718"/>
                  </a:cubicBezTo>
                  <a:cubicBezTo>
                    <a:pt x="6148" y="2212"/>
                    <a:pt x="6613" y="6392"/>
                    <a:pt x="6804" y="4718"/>
                  </a:cubicBezTo>
                  <a:cubicBezTo>
                    <a:pt x="6995" y="3045"/>
                    <a:pt x="8143" y="5907"/>
                    <a:pt x="8586" y="4718"/>
                  </a:cubicBezTo>
                  <a:cubicBezTo>
                    <a:pt x="9030" y="3530"/>
                    <a:pt x="9828" y="-5276"/>
                    <a:pt x="10368" y="4718"/>
                  </a:cubicBezTo>
                  <a:cubicBezTo>
                    <a:pt x="10909" y="14713"/>
                    <a:pt x="11581" y="3920"/>
                    <a:pt x="12150" y="4718"/>
                  </a:cubicBezTo>
                  <a:cubicBezTo>
                    <a:pt x="12720" y="5516"/>
                    <a:pt x="12662" y="6274"/>
                    <a:pt x="12852" y="4718"/>
                  </a:cubicBezTo>
                  <a:cubicBezTo>
                    <a:pt x="13043" y="3162"/>
                    <a:pt x="13616" y="4617"/>
                    <a:pt x="14202" y="4718"/>
                  </a:cubicBezTo>
                  <a:cubicBezTo>
                    <a:pt x="14788" y="4820"/>
                    <a:pt x="15012" y="3111"/>
                    <a:pt x="15336" y="4718"/>
                  </a:cubicBezTo>
                  <a:cubicBezTo>
                    <a:pt x="15660" y="6326"/>
                    <a:pt x="15844" y="8280"/>
                    <a:pt x="16038" y="4718"/>
                  </a:cubicBezTo>
                  <a:cubicBezTo>
                    <a:pt x="16232" y="1157"/>
                    <a:pt x="17019" y="1988"/>
                    <a:pt x="17820" y="4718"/>
                  </a:cubicBezTo>
                  <a:cubicBezTo>
                    <a:pt x="18621" y="7448"/>
                    <a:pt x="18348" y="6670"/>
                    <a:pt x="18522" y="4718"/>
                  </a:cubicBezTo>
                  <a:cubicBezTo>
                    <a:pt x="18696" y="2767"/>
                    <a:pt x="18985" y="6668"/>
                    <a:pt x="19224" y="4718"/>
                  </a:cubicBezTo>
                  <a:cubicBezTo>
                    <a:pt x="19463" y="2769"/>
                    <a:pt x="19892" y="1772"/>
                    <a:pt x="20358" y="4718"/>
                  </a:cubicBezTo>
                  <a:cubicBezTo>
                    <a:pt x="20824" y="7664"/>
                    <a:pt x="21207" y="3372"/>
                    <a:pt x="21600" y="4718"/>
                  </a:cubicBezTo>
                  <a:cubicBezTo>
                    <a:pt x="21599" y="6770"/>
                    <a:pt x="21599" y="7934"/>
                    <a:pt x="21600" y="8973"/>
                  </a:cubicBezTo>
                  <a:cubicBezTo>
                    <a:pt x="20844" y="12070"/>
                    <a:pt x="20755" y="1764"/>
                    <a:pt x="20034" y="8973"/>
                  </a:cubicBezTo>
                  <a:cubicBezTo>
                    <a:pt x="19313" y="16182"/>
                    <a:pt x="19679" y="10689"/>
                    <a:pt x="19332" y="8973"/>
                  </a:cubicBezTo>
                  <a:cubicBezTo>
                    <a:pt x="18985" y="7257"/>
                    <a:pt x="18911" y="12077"/>
                    <a:pt x="18630" y="8973"/>
                  </a:cubicBezTo>
                  <a:cubicBezTo>
                    <a:pt x="18349" y="5869"/>
                    <a:pt x="17941" y="11451"/>
                    <a:pt x="17280" y="8973"/>
                  </a:cubicBezTo>
                  <a:cubicBezTo>
                    <a:pt x="16619" y="6495"/>
                    <a:pt x="16919" y="4948"/>
                    <a:pt x="16578" y="8973"/>
                  </a:cubicBezTo>
                  <a:cubicBezTo>
                    <a:pt x="16237" y="12998"/>
                    <a:pt x="15609" y="13460"/>
                    <a:pt x="15228" y="8973"/>
                  </a:cubicBezTo>
                  <a:cubicBezTo>
                    <a:pt x="14847" y="4486"/>
                    <a:pt x="14277" y="12595"/>
                    <a:pt x="13662" y="8973"/>
                  </a:cubicBezTo>
                  <a:cubicBezTo>
                    <a:pt x="13048" y="5351"/>
                    <a:pt x="12852" y="15976"/>
                    <a:pt x="12312" y="8973"/>
                  </a:cubicBezTo>
                  <a:cubicBezTo>
                    <a:pt x="11773" y="1970"/>
                    <a:pt x="11212" y="3848"/>
                    <a:pt x="10746" y="8973"/>
                  </a:cubicBezTo>
                  <a:cubicBezTo>
                    <a:pt x="10280" y="14098"/>
                    <a:pt x="9864" y="9161"/>
                    <a:pt x="9180" y="8973"/>
                  </a:cubicBezTo>
                  <a:cubicBezTo>
                    <a:pt x="8497" y="8785"/>
                    <a:pt x="8712" y="5092"/>
                    <a:pt x="8478" y="8973"/>
                  </a:cubicBezTo>
                  <a:cubicBezTo>
                    <a:pt x="8245" y="12854"/>
                    <a:pt x="7759" y="6459"/>
                    <a:pt x="7560" y="8973"/>
                  </a:cubicBezTo>
                  <a:cubicBezTo>
                    <a:pt x="7361" y="11487"/>
                    <a:pt x="6698" y="8823"/>
                    <a:pt x="6426" y="8973"/>
                  </a:cubicBezTo>
                  <a:cubicBezTo>
                    <a:pt x="6155" y="9124"/>
                    <a:pt x="5466" y="7041"/>
                    <a:pt x="5076" y="8973"/>
                  </a:cubicBezTo>
                  <a:cubicBezTo>
                    <a:pt x="4686" y="10905"/>
                    <a:pt x="3759" y="10725"/>
                    <a:pt x="3294" y="8973"/>
                  </a:cubicBezTo>
                  <a:cubicBezTo>
                    <a:pt x="2830" y="7221"/>
                    <a:pt x="2227" y="16324"/>
                    <a:pt x="1728" y="8973"/>
                  </a:cubicBezTo>
                  <a:cubicBezTo>
                    <a:pt x="1230" y="1622"/>
                    <a:pt x="408" y="5229"/>
                    <a:pt x="1" y="8973"/>
                  </a:cubicBezTo>
                  <a:cubicBezTo>
                    <a:pt x="1" y="7197"/>
                    <a:pt x="0" y="5662"/>
                    <a:pt x="1" y="4718"/>
                  </a:cubicBezTo>
                  <a:close/>
                </a:path>
              </a:pathLst>
            </a:custGeom>
            <a:noFill/>
            <a:ln w="44450" cap="rnd">
              <a:solidFill>
                <a:schemeClr val="accent2">
                  <a:alpha val="75000"/>
                </a:scheme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237" name="Diagram 1"/>
          <p:cNvGrpSpPr/>
          <p:nvPr/>
        </p:nvGrpSpPr>
        <p:grpSpPr>
          <a:xfrm>
            <a:off x="572493" y="691784"/>
            <a:ext cx="11274665" cy="5839740"/>
            <a:chOff x="0" y="0"/>
            <a:chExt cx="11274663" cy="5839738"/>
          </a:xfrm>
        </p:grpSpPr>
        <p:grpSp>
          <p:nvGrpSpPr>
            <p:cNvPr id="197" name="Group"/>
            <p:cNvGrpSpPr/>
            <p:nvPr/>
          </p:nvGrpSpPr>
          <p:grpSpPr>
            <a:xfrm>
              <a:off x="-1" y="0"/>
              <a:ext cx="633754" cy="905362"/>
              <a:chOff x="0" y="0"/>
              <a:chExt cx="633752" cy="905361"/>
            </a:xfrm>
          </p:grpSpPr>
          <p:sp>
            <p:nvSpPr>
              <p:cNvPr id="195" name="Chevron"/>
              <p:cNvSpPr/>
              <p:nvPr/>
            </p:nvSpPr>
            <p:spPr>
              <a:xfrm rot="5400000">
                <a:off x="-135805" y="135804"/>
                <a:ext cx="905362" cy="633753"/>
              </a:xfrm>
              <a:prstGeom prst="chevron">
                <a:avLst>
                  <a:gd name="adj" fmla="val 50000"/>
                </a:avLst>
              </a:prstGeom>
              <a:solidFill>
                <a:schemeClr val="accent2"/>
              </a:solidFill>
              <a:ln w="25400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700"/>
                  </a:spcBef>
                  <a:defRPr sz="14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</a:p>
            </p:txBody>
          </p:sp>
          <p:sp>
            <p:nvSpPr>
              <p:cNvPr id="196" name="Data Quality"/>
              <p:cNvSpPr txBox="1"/>
              <p:nvPr/>
            </p:nvSpPr>
            <p:spPr>
              <a:xfrm>
                <a:off x="0" y="238685"/>
                <a:ext cx="633753" cy="4279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8889" tIns="8889" rIns="8889" bIns="8889" numCol="1" anchor="ctr">
                <a:spAutoFit/>
              </a:bodyPr>
              <a:lstStyle>
                <a:lvl1pPr algn="ctr" defTabSz="622300">
                  <a:lnSpc>
                    <a:spcPct val="90000"/>
                  </a:lnSpc>
                  <a:spcBef>
                    <a:spcPts val="500"/>
                  </a:spcBef>
                  <a:defRPr sz="14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lvl1pPr>
              </a:lstStyle>
              <a:p>
                <a:pPr/>
                <a:r>
                  <a:t>Data Quality</a:t>
                </a:r>
              </a:p>
            </p:txBody>
          </p:sp>
        </p:grpSp>
        <p:grpSp>
          <p:nvGrpSpPr>
            <p:cNvPr id="200" name="Group"/>
            <p:cNvGrpSpPr/>
            <p:nvPr/>
          </p:nvGrpSpPr>
          <p:grpSpPr>
            <a:xfrm>
              <a:off x="633751" y="1"/>
              <a:ext cx="10640913" cy="588795"/>
              <a:chOff x="0" y="0"/>
              <a:chExt cx="10640912" cy="588794"/>
            </a:xfrm>
          </p:grpSpPr>
          <p:sp>
            <p:nvSpPr>
              <p:cNvPr id="198" name="Shape"/>
              <p:cNvSpPr/>
              <p:nvPr/>
            </p:nvSpPr>
            <p:spPr>
              <a:xfrm rot="5400000">
                <a:off x="5026058" y="-5026060"/>
                <a:ext cx="588795" cy="10640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600" y="0"/>
                    </a:moveTo>
                    <a:lnTo>
                      <a:pt x="18000" y="0"/>
                    </a:lnTo>
                    <a:cubicBezTo>
                      <a:pt x="19988" y="0"/>
                      <a:pt x="21600" y="89"/>
                      <a:pt x="21600" y="19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99"/>
                    </a:lnTo>
                    <a:cubicBezTo>
                      <a:pt x="0" y="89"/>
                      <a:pt x="1612" y="0"/>
                      <a:pt x="3600" y="0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25400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711200">
                  <a:lnSpc>
                    <a:spcPct val="90000"/>
                  </a:lnSpc>
                  <a:spcBef>
                    <a:spcPts val="300"/>
                  </a:spcBef>
                  <a:defRPr sz="1600"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</a:p>
            </p:txBody>
          </p:sp>
          <p:sp>
            <p:nvSpPr>
              <p:cNvPr id="199" name="Inconsistent timestamps, missing events and unreliable sensors can degrade predictions.…"/>
              <p:cNvSpPr txBox="1"/>
              <p:nvPr/>
            </p:nvSpPr>
            <p:spPr>
              <a:xfrm>
                <a:off x="103632" y="36713"/>
                <a:ext cx="10508539" cy="515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/>
              <a:p>
                <a:pPr lvl="1" marL="171450" indent="-171450" defTabSz="71120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600"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t>Inconsistent timestamps, missing events and unreliable sensors can degrade predictions.</a:t>
                </a:r>
              </a:p>
              <a:p>
                <a:pPr lvl="1" marL="171450" indent="-171450" defTabSz="71120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b="1" sz="1600"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t>Mitigation</a:t>
                </a:r>
                <a:r>
                  <a:rPr b="0"/>
                  <a:t>: validation, completeness monitoring, interpretable fallback logic.</a:t>
                </a:r>
              </a:p>
            </p:txBody>
          </p:sp>
        </p:grpSp>
        <p:grpSp>
          <p:nvGrpSpPr>
            <p:cNvPr id="203" name="Group"/>
            <p:cNvGrpSpPr/>
            <p:nvPr/>
          </p:nvGrpSpPr>
          <p:grpSpPr>
            <a:xfrm>
              <a:off x="-1" y="822395"/>
              <a:ext cx="633754" cy="905362"/>
              <a:chOff x="0" y="0"/>
              <a:chExt cx="633752" cy="905361"/>
            </a:xfrm>
          </p:grpSpPr>
          <p:sp>
            <p:nvSpPr>
              <p:cNvPr id="201" name="Chevron"/>
              <p:cNvSpPr/>
              <p:nvPr/>
            </p:nvSpPr>
            <p:spPr>
              <a:xfrm rot="5400000">
                <a:off x="-135805" y="135804"/>
                <a:ext cx="905362" cy="633753"/>
              </a:xfrm>
              <a:prstGeom prst="chevron">
                <a:avLst>
                  <a:gd name="adj" fmla="val 50000"/>
                </a:avLst>
              </a:prstGeom>
              <a:solidFill>
                <a:schemeClr val="accent3"/>
              </a:solidFill>
              <a:ln w="25400" cap="flat">
                <a:solidFill>
                  <a:schemeClr val="accent3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700"/>
                  </a:spcBef>
                  <a:defRPr sz="14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</a:p>
            </p:txBody>
          </p:sp>
          <p:sp>
            <p:nvSpPr>
              <p:cNvPr id="202" name="Alert Fatigue"/>
              <p:cNvSpPr txBox="1"/>
              <p:nvPr/>
            </p:nvSpPr>
            <p:spPr>
              <a:xfrm>
                <a:off x="0" y="238685"/>
                <a:ext cx="633753" cy="4279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8889" tIns="8889" rIns="8889" bIns="8889" numCol="1" anchor="ctr">
                <a:spAutoFit/>
              </a:bodyPr>
              <a:lstStyle>
                <a:lvl1pPr algn="ctr" defTabSz="622300">
                  <a:lnSpc>
                    <a:spcPct val="90000"/>
                  </a:lnSpc>
                  <a:spcBef>
                    <a:spcPts val="500"/>
                  </a:spcBef>
                  <a:defRPr sz="14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lvl1pPr>
              </a:lstStyle>
              <a:p>
                <a:pPr/>
                <a:r>
                  <a:t>Alert Fatigue</a:t>
                </a:r>
              </a:p>
            </p:txBody>
          </p:sp>
        </p:grpSp>
        <p:grpSp>
          <p:nvGrpSpPr>
            <p:cNvPr id="206" name="Group"/>
            <p:cNvGrpSpPr/>
            <p:nvPr/>
          </p:nvGrpSpPr>
          <p:grpSpPr>
            <a:xfrm>
              <a:off x="633751" y="822397"/>
              <a:ext cx="10640913" cy="588485"/>
              <a:chOff x="0" y="0"/>
              <a:chExt cx="10640912" cy="588484"/>
            </a:xfrm>
          </p:grpSpPr>
          <p:sp>
            <p:nvSpPr>
              <p:cNvPr id="204" name="Shape"/>
              <p:cNvSpPr/>
              <p:nvPr/>
            </p:nvSpPr>
            <p:spPr>
              <a:xfrm rot="5400000">
                <a:off x="5026213" y="-5026215"/>
                <a:ext cx="588485" cy="10640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600" y="0"/>
                    </a:moveTo>
                    <a:lnTo>
                      <a:pt x="18000" y="0"/>
                    </a:lnTo>
                    <a:cubicBezTo>
                      <a:pt x="19988" y="0"/>
                      <a:pt x="21600" y="89"/>
                      <a:pt x="21600" y="19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99"/>
                    </a:lnTo>
                    <a:cubicBezTo>
                      <a:pt x="0" y="89"/>
                      <a:pt x="1612" y="0"/>
                      <a:pt x="3600" y="0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25400" cap="flat">
                <a:solidFill>
                  <a:schemeClr val="accent3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711200">
                  <a:lnSpc>
                    <a:spcPct val="90000"/>
                  </a:lnSpc>
                  <a:spcBef>
                    <a:spcPts val="300"/>
                  </a:spcBef>
                  <a:defRPr sz="1600"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</a:p>
            </p:txBody>
          </p:sp>
          <p:sp>
            <p:nvSpPr>
              <p:cNvPr id="205" name="Excessive false positives can reduce trust.…"/>
              <p:cNvSpPr txBox="1"/>
              <p:nvPr/>
            </p:nvSpPr>
            <p:spPr>
              <a:xfrm>
                <a:off x="103632" y="36558"/>
                <a:ext cx="10508555" cy="515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/>
              <a:p>
                <a:pPr lvl="1" marL="171450" indent="-171450" defTabSz="71120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600"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t>Excessive false positives can reduce trust.</a:t>
                </a:r>
              </a:p>
              <a:p>
                <a:pPr lvl="1" marL="171450" indent="-171450" defTabSz="71120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b="1" sz="1600"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t>Mitigation</a:t>
                </a:r>
                <a:r>
                  <a:rPr b="0"/>
                  <a:t>: severity prioritization, configurable thresholds and operator feedback.</a:t>
                </a:r>
              </a:p>
            </p:txBody>
          </p:sp>
        </p:grpSp>
        <p:grpSp>
          <p:nvGrpSpPr>
            <p:cNvPr id="209" name="Group"/>
            <p:cNvGrpSpPr/>
            <p:nvPr/>
          </p:nvGrpSpPr>
          <p:grpSpPr>
            <a:xfrm>
              <a:off x="-1" y="1644793"/>
              <a:ext cx="633754" cy="905362"/>
              <a:chOff x="0" y="0"/>
              <a:chExt cx="633752" cy="905361"/>
            </a:xfrm>
          </p:grpSpPr>
          <p:sp>
            <p:nvSpPr>
              <p:cNvPr id="207" name="Chevron"/>
              <p:cNvSpPr/>
              <p:nvPr/>
            </p:nvSpPr>
            <p:spPr>
              <a:xfrm rot="5400000">
                <a:off x="-135805" y="135804"/>
                <a:ext cx="905362" cy="633753"/>
              </a:xfrm>
              <a:prstGeom prst="chevron">
                <a:avLst>
                  <a:gd name="adj" fmla="val 50000"/>
                </a:avLst>
              </a:prstGeom>
              <a:solidFill>
                <a:schemeClr val="accent4"/>
              </a:solidFill>
              <a:ln w="25400" cap="flat">
                <a:solidFill>
                  <a:schemeClr val="accent4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700"/>
                  </a:spcBef>
                  <a:defRPr sz="14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</a:p>
            </p:txBody>
          </p:sp>
          <p:sp>
            <p:nvSpPr>
              <p:cNvPr id="208" name="Model Drift"/>
              <p:cNvSpPr txBox="1"/>
              <p:nvPr/>
            </p:nvSpPr>
            <p:spPr>
              <a:xfrm>
                <a:off x="0" y="238684"/>
                <a:ext cx="633753" cy="4279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8889" tIns="8889" rIns="8889" bIns="8889" numCol="1" anchor="ctr">
                <a:spAutoFit/>
              </a:bodyPr>
              <a:lstStyle>
                <a:lvl1pPr algn="ctr" defTabSz="622300">
                  <a:lnSpc>
                    <a:spcPct val="90000"/>
                  </a:lnSpc>
                  <a:spcBef>
                    <a:spcPts val="500"/>
                  </a:spcBef>
                  <a:defRPr sz="14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lvl1pPr>
              </a:lstStyle>
              <a:p>
                <a:pPr/>
                <a:r>
                  <a:t>Model Drift</a:t>
                </a:r>
              </a:p>
            </p:txBody>
          </p:sp>
        </p:grpSp>
        <p:grpSp>
          <p:nvGrpSpPr>
            <p:cNvPr id="212" name="Group"/>
            <p:cNvGrpSpPr/>
            <p:nvPr/>
          </p:nvGrpSpPr>
          <p:grpSpPr>
            <a:xfrm>
              <a:off x="633751" y="1644794"/>
              <a:ext cx="10640913" cy="588485"/>
              <a:chOff x="0" y="0"/>
              <a:chExt cx="10640912" cy="588484"/>
            </a:xfrm>
          </p:grpSpPr>
          <p:sp>
            <p:nvSpPr>
              <p:cNvPr id="210" name="Shape"/>
              <p:cNvSpPr/>
              <p:nvPr/>
            </p:nvSpPr>
            <p:spPr>
              <a:xfrm rot="5400000">
                <a:off x="5026213" y="-5026215"/>
                <a:ext cx="588485" cy="10640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600" y="0"/>
                    </a:moveTo>
                    <a:lnTo>
                      <a:pt x="18000" y="0"/>
                    </a:lnTo>
                    <a:cubicBezTo>
                      <a:pt x="19988" y="0"/>
                      <a:pt x="21600" y="89"/>
                      <a:pt x="21600" y="19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99"/>
                    </a:lnTo>
                    <a:cubicBezTo>
                      <a:pt x="0" y="89"/>
                      <a:pt x="1612" y="0"/>
                      <a:pt x="3600" y="0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25400" cap="flat">
                <a:solidFill>
                  <a:schemeClr val="accent4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711200">
                  <a:lnSpc>
                    <a:spcPct val="90000"/>
                  </a:lnSpc>
                  <a:spcBef>
                    <a:spcPts val="300"/>
                  </a:spcBef>
                  <a:defRPr sz="1600"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</a:p>
            </p:txBody>
          </p:sp>
          <p:sp>
            <p:nvSpPr>
              <p:cNvPr id="211" name="Operating conditions and product mix change.…"/>
              <p:cNvSpPr txBox="1"/>
              <p:nvPr/>
            </p:nvSpPr>
            <p:spPr>
              <a:xfrm>
                <a:off x="103632" y="36558"/>
                <a:ext cx="10508555" cy="515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/>
              <a:p>
                <a:pPr lvl="1" marL="171450" indent="-171450" defTabSz="71120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600"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t>Operating conditions and product mix change.</a:t>
                </a:r>
              </a:p>
              <a:p>
                <a:pPr lvl="1" marL="171450" indent="-171450" defTabSz="71120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b="1" sz="1600"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t>Mitigation</a:t>
                </a:r>
                <a:r>
                  <a:rPr b="0"/>
                  <a:t>: performance monitoring, retraining and model governance.</a:t>
                </a:r>
              </a:p>
            </p:txBody>
          </p:sp>
        </p:grpSp>
        <p:grpSp>
          <p:nvGrpSpPr>
            <p:cNvPr id="215" name="Group"/>
            <p:cNvGrpSpPr/>
            <p:nvPr/>
          </p:nvGrpSpPr>
          <p:grpSpPr>
            <a:xfrm>
              <a:off x="-1" y="2467188"/>
              <a:ext cx="633754" cy="905362"/>
              <a:chOff x="0" y="0"/>
              <a:chExt cx="633752" cy="905361"/>
            </a:xfrm>
          </p:grpSpPr>
          <p:sp>
            <p:nvSpPr>
              <p:cNvPr id="213" name="Chevron"/>
              <p:cNvSpPr/>
              <p:nvPr/>
            </p:nvSpPr>
            <p:spPr>
              <a:xfrm rot="5400000">
                <a:off x="-135805" y="135804"/>
                <a:ext cx="905362" cy="633753"/>
              </a:xfrm>
              <a:prstGeom prst="chevron">
                <a:avLst>
                  <a:gd name="adj" fmla="val 50000"/>
                </a:avLst>
              </a:prstGeom>
              <a:solidFill>
                <a:schemeClr val="accent5"/>
              </a:solidFill>
              <a:ln w="25400" cap="flat">
                <a:solidFill>
                  <a:schemeClr val="accent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700"/>
                  </a:spcBef>
                  <a:defRPr sz="14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</a:p>
            </p:txBody>
          </p:sp>
          <p:sp>
            <p:nvSpPr>
              <p:cNvPr id="214" name="Legacy Integration"/>
              <p:cNvSpPr txBox="1"/>
              <p:nvPr/>
            </p:nvSpPr>
            <p:spPr>
              <a:xfrm>
                <a:off x="0" y="141530"/>
                <a:ext cx="633753" cy="6223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8889" tIns="8889" rIns="8889" bIns="8889" numCol="1" anchor="ctr">
                <a:spAutoFit/>
              </a:bodyPr>
              <a:lstStyle>
                <a:lvl1pPr algn="ctr" defTabSz="622300">
                  <a:lnSpc>
                    <a:spcPct val="90000"/>
                  </a:lnSpc>
                  <a:spcBef>
                    <a:spcPts val="500"/>
                  </a:spcBef>
                  <a:defRPr sz="14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lvl1pPr>
              </a:lstStyle>
              <a:p>
                <a:pPr/>
                <a:r>
                  <a:t>Legacy Integration</a:t>
                </a:r>
              </a:p>
            </p:txBody>
          </p:sp>
        </p:grpSp>
        <p:grpSp>
          <p:nvGrpSpPr>
            <p:cNvPr id="218" name="Group"/>
            <p:cNvGrpSpPr/>
            <p:nvPr/>
          </p:nvGrpSpPr>
          <p:grpSpPr>
            <a:xfrm>
              <a:off x="633751" y="2467190"/>
              <a:ext cx="10640913" cy="588485"/>
              <a:chOff x="0" y="0"/>
              <a:chExt cx="10640912" cy="588484"/>
            </a:xfrm>
          </p:grpSpPr>
          <p:sp>
            <p:nvSpPr>
              <p:cNvPr id="216" name="Shape"/>
              <p:cNvSpPr/>
              <p:nvPr/>
            </p:nvSpPr>
            <p:spPr>
              <a:xfrm rot="5400000">
                <a:off x="5026213" y="-5026215"/>
                <a:ext cx="588485" cy="10640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600" y="0"/>
                    </a:moveTo>
                    <a:lnTo>
                      <a:pt x="18000" y="0"/>
                    </a:lnTo>
                    <a:cubicBezTo>
                      <a:pt x="19988" y="0"/>
                      <a:pt x="21600" y="89"/>
                      <a:pt x="21600" y="19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99"/>
                    </a:lnTo>
                    <a:cubicBezTo>
                      <a:pt x="0" y="89"/>
                      <a:pt x="1612" y="0"/>
                      <a:pt x="3600" y="0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25400" cap="flat">
                <a:solidFill>
                  <a:schemeClr val="accent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711200">
                  <a:lnSpc>
                    <a:spcPct val="90000"/>
                  </a:lnSpc>
                  <a:spcBef>
                    <a:spcPts val="300"/>
                  </a:spcBef>
                  <a:defRPr sz="1600"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</a:p>
            </p:txBody>
          </p:sp>
          <p:sp>
            <p:nvSpPr>
              <p:cNvPr id="217" name="Industrial environments contain heterogeneous systems.…"/>
              <p:cNvSpPr txBox="1"/>
              <p:nvPr/>
            </p:nvSpPr>
            <p:spPr>
              <a:xfrm>
                <a:off x="103632" y="36558"/>
                <a:ext cx="10508555" cy="515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/>
              <a:p>
                <a:pPr lvl="1" marL="171450" indent="-171450" defTabSz="71120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600"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t>Industrial environments contain heterogeneous systems.</a:t>
                </a:r>
              </a:p>
              <a:p>
                <a:pPr lvl="1" marL="171450" indent="-171450" defTabSz="71120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b="1" sz="1600"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t>Mitigation</a:t>
                </a:r>
                <a:r>
                  <a:rPr b="0"/>
                  <a:t>: modular adapters and phased pilots.</a:t>
                </a:r>
              </a:p>
            </p:txBody>
          </p:sp>
        </p:grpSp>
        <p:grpSp>
          <p:nvGrpSpPr>
            <p:cNvPr id="221" name="Group"/>
            <p:cNvGrpSpPr/>
            <p:nvPr/>
          </p:nvGrpSpPr>
          <p:grpSpPr>
            <a:xfrm>
              <a:off x="-1" y="3289584"/>
              <a:ext cx="633754" cy="905362"/>
              <a:chOff x="0" y="0"/>
              <a:chExt cx="633752" cy="905361"/>
            </a:xfrm>
          </p:grpSpPr>
          <p:sp>
            <p:nvSpPr>
              <p:cNvPr id="219" name="Chevron"/>
              <p:cNvSpPr/>
              <p:nvPr/>
            </p:nvSpPr>
            <p:spPr>
              <a:xfrm rot="5400000">
                <a:off x="-135805" y="135804"/>
                <a:ext cx="905362" cy="633753"/>
              </a:xfrm>
              <a:prstGeom prst="chevron">
                <a:avLst>
                  <a:gd name="adj" fmla="val 50000"/>
                </a:avLst>
              </a:prstGeom>
              <a:solidFill>
                <a:schemeClr val="accent6"/>
              </a:solidFill>
              <a:ln w="25400" cap="flat">
                <a:solidFill>
                  <a:schemeClr val="accent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700"/>
                  </a:spcBef>
                  <a:defRPr sz="14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</a:p>
            </p:txBody>
          </p:sp>
          <p:sp>
            <p:nvSpPr>
              <p:cNvPr id="220" name="Cybersecurity/ Safety"/>
              <p:cNvSpPr txBox="1"/>
              <p:nvPr/>
            </p:nvSpPr>
            <p:spPr>
              <a:xfrm>
                <a:off x="0" y="141530"/>
                <a:ext cx="633753" cy="6223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8889" tIns="8889" rIns="8889" bIns="8889" numCol="1" anchor="ctr">
                <a:spAutoFit/>
              </a:bodyPr>
              <a:lstStyle>
                <a:lvl1pPr algn="ctr" defTabSz="622300">
                  <a:lnSpc>
                    <a:spcPct val="90000"/>
                  </a:lnSpc>
                  <a:spcBef>
                    <a:spcPts val="500"/>
                  </a:spcBef>
                  <a:defRPr sz="14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lvl1pPr>
              </a:lstStyle>
              <a:p>
                <a:pPr/>
                <a:r>
                  <a:t>Cybersecurity/ Safety</a:t>
                </a:r>
              </a:p>
            </p:txBody>
          </p:sp>
        </p:grpSp>
        <p:grpSp>
          <p:nvGrpSpPr>
            <p:cNvPr id="224" name="Group"/>
            <p:cNvGrpSpPr/>
            <p:nvPr/>
          </p:nvGrpSpPr>
          <p:grpSpPr>
            <a:xfrm>
              <a:off x="633751" y="3289587"/>
              <a:ext cx="10640913" cy="588485"/>
              <a:chOff x="0" y="0"/>
              <a:chExt cx="10640912" cy="588484"/>
            </a:xfrm>
          </p:grpSpPr>
          <p:sp>
            <p:nvSpPr>
              <p:cNvPr id="222" name="Shape"/>
              <p:cNvSpPr/>
              <p:nvPr/>
            </p:nvSpPr>
            <p:spPr>
              <a:xfrm rot="5400000">
                <a:off x="5026213" y="-5026215"/>
                <a:ext cx="588485" cy="10640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600" y="0"/>
                    </a:moveTo>
                    <a:lnTo>
                      <a:pt x="18000" y="0"/>
                    </a:lnTo>
                    <a:cubicBezTo>
                      <a:pt x="19988" y="0"/>
                      <a:pt x="21600" y="89"/>
                      <a:pt x="21600" y="19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99"/>
                    </a:lnTo>
                    <a:cubicBezTo>
                      <a:pt x="0" y="89"/>
                      <a:pt x="1612" y="0"/>
                      <a:pt x="3600" y="0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25400" cap="flat">
                <a:solidFill>
                  <a:schemeClr val="accent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711200">
                  <a:lnSpc>
                    <a:spcPct val="90000"/>
                  </a:lnSpc>
                  <a:spcBef>
                    <a:spcPts val="300"/>
                  </a:spcBef>
                  <a:defRPr sz="1600"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</a:p>
            </p:txBody>
          </p:sp>
          <p:sp>
            <p:nvSpPr>
              <p:cNvPr id="223" name="Operational technology environments are critical.…"/>
              <p:cNvSpPr txBox="1"/>
              <p:nvPr/>
            </p:nvSpPr>
            <p:spPr>
              <a:xfrm>
                <a:off x="103632" y="36558"/>
                <a:ext cx="10508555" cy="515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/>
              <a:p>
                <a:pPr lvl="1" marL="171450" indent="-171450" defTabSz="71120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600"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t>Operational technology environments are critical.</a:t>
                </a:r>
              </a:p>
              <a:p>
                <a:pPr lvl="1" marL="171450" indent="-171450" defTabSz="71120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b="1" sz="1600"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t>Mitigation</a:t>
                </a:r>
                <a:r>
                  <a:rPr b="0"/>
                  <a:t>: segmented architecture, least-privilege access and initially read-only decision support.</a:t>
                </a:r>
              </a:p>
            </p:txBody>
          </p:sp>
        </p:grpSp>
        <p:grpSp>
          <p:nvGrpSpPr>
            <p:cNvPr id="227" name="Group"/>
            <p:cNvGrpSpPr/>
            <p:nvPr/>
          </p:nvGrpSpPr>
          <p:grpSpPr>
            <a:xfrm>
              <a:off x="-1" y="4111981"/>
              <a:ext cx="633754" cy="905362"/>
              <a:chOff x="0" y="0"/>
              <a:chExt cx="633752" cy="905361"/>
            </a:xfrm>
          </p:grpSpPr>
          <p:sp>
            <p:nvSpPr>
              <p:cNvPr id="225" name="Chevron"/>
              <p:cNvSpPr/>
              <p:nvPr/>
            </p:nvSpPr>
            <p:spPr>
              <a:xfrm rot="5400000">
                <a:off x="-135805" y="135804"/>
                <a:ext cx="905362" cy="633753"/>
              </a:xfrm>
              <a:prstGeom prst="chevron">
                <a:avLst>
                  <a:gd name="adj" fmla="val 50000"/>
                </a:avLst>
              </a:prstGeom>
              <a:solidFill>
                <a:schemeClr val="accent2"/>
              </a:solidFill>
              <a:ln w="25400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700"/>
                  </a:spcBef>
                  <a:defRPr sz="14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</a:p>
            </p:txBody>
          </p:sp>
          <p:sp>
            <p:nvSpPr>
              <p:cNvPr id="226" name="Adoption"/>
              <p:cNvSpPr txBox="1"/>
              <p:nvPr/>
            </p:nvSpPr>
            <p:spPr>
              <a:xfrm>
                <a:off x="0" y="238685"/>
                <a:ext cx="633753" cy="4279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8889" tIns="8889" rIns="8889" bIns="8889" numCol="1" anchor="ctr">
                <a:spAutoFit/>
              </a:bodyPr>
              <a:lstStyle>
                <a:lvl1pPr algn="ctr" defTabSz="622300">
                  <a:lnSpc>
                    <a:spcPct val="90000"/>
                  </a:lnSpc>
                  <a:spcBef>
                    <a:spcPts val="500"/>
                  </a:spcBef>
                  <a:defRPr sz="14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lvl1pPr>
              </a:lstStyle>
              <a:p>
                <a:pPr/>
                <a:r>
                  <a:t>Adoption</a:t>
                </a:r>
              </a:p>
            </p:txBody>
          </p:sp>
        </p:grpSp>
        <p:grpSp>
          <p:nvGrpSpPr>
            <p:cNvPr id="230" name="Group"/>
            <p:cNvGrpSpPr/>
            <p:nvPr/>
          </p:nvGrpSpPr>
          <p:grpSpPr>
            <a:xfrm>
              <a:off x="633751" y="4111983"/>
              <a:ext cx="10640913" cy="588485"/>
              <a:chOff x="0" y="0"/>
              <a:chExt cx="10640912" cy="588484"/>
            </a:xfrm>
          </p:grpSpPr>
          <p:sp>
            <p:nvSpPr>
              <p:cNvPr id="228" name="Shape"/>
              <p:cNvSpPr/>
              <p:nvPr/>
            </p:nvSpPr>
            <p:spPr>
              <a:xfrm rot="5400000">
                <a:off x="5026213" y="-5026215"/>
                <a:ext cx="588485" cy="10640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600" y="0"/>
                    </a:moveTo>
                    <a:lnTo>
                      <a:pt x="18000" y="0"/>
                    </a:lnTo>
                    <a:cubicBezTo>
                      <a:pt x="19988" y="0"/>
                      <a:pt x="21600" y="89"/>
                      <a:pt x="21600" y="19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99"/>
                    </a:lnTo>
                    <a:cubicBezTo>
                      <a:pt x="0" y="89"/>
                      <a:pt x="1612" y="0"/>
                      <a:pt x="3600" y="0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25400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711200">
                  <a:lnSpc>
                    <a:spcPct val="90000"/>
                  </a:lnSpc>
                  <a:spcBef>
                    <a:spcPts val="300"/>
                  </a:spcBef>
                  <a:defRPr sz="1600"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</a:p>
            </p:txBody>
          </p:sp>
          <p:sp>
            <p:nvSpPr>
              <p:cNvPr id="229" name="A technically capable tool can still fail if it disrupts workflows.…"/>
              <p:cNvSpPr txBox="1"/>
              <p:nvPr/>
            </p:nvSpPr>
            <p:spPr>
              <a:xfrm>
                <a:off x="103632" y="36558"/>
                <a:ext cx="10508555" cy="515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/>
              <a:p>
                <a:pPr lvl="1" marL="171450" indent="-171450" defTabSz="71120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600"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t>A technically capable tool can still fail if it disrupts workflows.</a:t>
                </a:r>
              </a:p>
              <a:p>
                <a:pPr lvl="1" marL="171450" indent="-171450" defTabSz="71120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b="1" sz="1600"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t>Mitigation</a:t>
                </a:r>
                <a:r>
                  <a:rPr b="0"/>
                  <a:t>: role-specific dashboards and human-in-the-loop recommendations.</a:t>
                </a:r>
              </a:p>
            </p:txBody>
          </p:sp>
        </p:grpSp>
        <p:grpSp>
          <p:nvGrpSpPr>
            <p:cNvPr id="233" name="Group"/>
            <p:cNvGrpSpPr/>
            <p:nvPr/>
          </p:nvGrpSpPr>
          <p:grpSpPr>
            <a:xfrm>
              <a:off x="-1" y="4934377"/>
              <a:ext cx="633754" cy="905362"/>
              <a:chOff x="0" y="0"/>
              <a:chExt cx="633752" cy="905361"/>
            </a:xfrm>
          </p:grpSpPr>
          <p:sp>
            <p:nvSpPr>
              <p:cNvPr id="231" name="Chevron"/>
              <p:cNvSpPr/>
              <p:nvPr/>
            </p:nvSpPr>
            <p:spPr>
              <a:xfrm rot="5400000">
                <a:off x="-135805" y="135804"/>
                <a:ext cx="905362" cy="633753"/>
              </a:xfrm>
              <a:prstGeom prst="chevron">
                <a:avLst>
                  <a:gd name="adj" fmla="val 50000"/>
                </a:avLst>
              </a:prstGeom>
              <a:solidFill>
                <a:schemeClr val="accent3"/>
              </a:solidFill>
              <a:ln w="25400" cap="flat">
                <a:solidFill>
                  <a:schemeClr val="accent3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ts val="700"/>
                  </a:spcBef>
                  <a:defRPr sz="14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</a:p>
            </p:txBody>
          </p:sp>
          <p:sp>
            <p:nvSpPr>
              <p:cNvPr id="232" name="Business credibility"/>
              <p:cNvSpPr txBox="1"/>
              <p:nvPr/>
            </p:nvSpPr>
            <p:spPr>
              <a:xfrm>
                <a:off x="0" y="44375"/>
                <a:ext cx="633753" cy="8166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8889" tIns="8889" rIns="8889" bIns="8889" numCol="1" anchor="ctr">
                <a:spAutoFit/>
              </a:bodyPr>
              <a:lstStyle>
                <a:lvl1pPr algn="ctr" defTabSz="622300">
                  <a:lnSpc>
                    <a:spcPct val="90000"/>
                  </a:lnSpc>
                  <a:spcBef>
                    <a:spcPts val="500"/>
                  </a:spcBef>
                  <a:defRPr sz="14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lvl1pPr>
              </a:lstStyle>
              <a:p>
                <a:pPr/>
                <a:r>
                  <a:t>Business credibility</a:t>
                </a:r>
              </a:p>
            </p:txBody>
          </p:sp>
        </p:grpSp>
        <p:grpSp>
          <p:nvGrpSpPr>
            <p:cNvPr id="236" name="Group"/>
            <p:cNvGrpSpPr/>
            <p:nvPr/>
          </p:nvGrpSpPr>
          <p:grpSpPr>
            <a:xfrm>
              <a:off x="633751" y="4934379"/>
              <a:ext cx="10640913" cy="588485"/>
              <a:chOff x="0" y="0"/>
              <a:chExt cx="10640912" cy="588484"/>
            </a:xfrm>
          </p:grpSpPr>
          <p:sp>
            <p:nvSpPr>
              <p:cNvPr id="234" name="Shape"/>
              <p:cNvSpPr/>
              <p:nvPr/>
            </p:nvSpPr>
            <p:spPr>
              <a:xfrm rot="5400000">
                <a:off x="5026213" y="-5026215"/>
                <a:ext cx="588485" cy="10640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600" y="0"/>
                    </a:moveTo>
                    <a:lnTo>
                      <a:pt x="18000" y="0"/>
                    </a:lnTo>
                    <a:cubicBezTo>
                      <a:pt x="19988" y="0"/>
                      <a:pt x="21600" y="89"/>
                      <a:pt x="21600" y="19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99"/>
                    </a:lnTo>
                    <a:cubicBezTo>
                      <a:pt x="0" y="89"/>
                      <a:pt x="1612" y="0"/>
                      <a:pt x="3600" y="0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25400" cap="flat">
                <a:solidFill>
                  <a:schemeClr val="accent3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711200">
                  <a:lnSpc>
                    <a:spcPct val="90000"/>
                  </a:lnSpc>
                  <a:spcBef>
                    <a:spcPts val="300"/>
                  </a:spcBef>
                  <a:defRPr sz="1600"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</a:p>
            </p:txBody>
          </p:sp>
          <p:sp>
            <p:nvSpPr>
              <p:cNvPr id="235" name="Synthetic POC results are not automatically real-plant savings.…"/>
              <p:cNvSpPr txBox="1"/>
              <p:nvPr/>
            </p:nvSpPr>
            <p:spPr>
              <a:xfrm>
                <a:off x="103632" y="36558"/>
                <a:ext cx="10508555" cy="515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0160" tIns="10160" rIns="10160" bIns="10160" numCol="1" anchor="ctr">
                <a:spAutoFit/>
              </a:bodyPr>
              <a:lstStyle/>
              <a:p>
                <a:pPr lvl="1" marL="171450" indent="-171450" defTabSz="71120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sz="1600"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t>Synthetic POC results are not automatically real-plant savings.</a:t>
                </a:r>
              </a:p>
              <a:p>
                <a:pPr lvl="1" marL="171450" indent="-171450" defTabSz="711200">
                  <a:lnSpc>
                    <a:spcPct val="90000"/>
                  </a:lnSpc>
                  <a:spcBef>
                    <a:spcPts val="200"/>
                  </a:spcBef>
                  <a:buSzPct val="100000"/>
                  <a:buChar char="•"/>
                  <a:defRPr b="1" sz="1600"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t>Mitigation</a:t>
                </a:r>
                <a:r>
                  <a:rPr b="0"/>
                  <a:t>: explicitly separate simulated evidence from plant-specific ROI validation.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